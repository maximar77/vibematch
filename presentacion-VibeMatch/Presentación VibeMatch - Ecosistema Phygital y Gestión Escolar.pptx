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</ns0:embeddedFon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908bcc31-5201-4b03-b7fd-734066562c86.fntdata" /><ns0:Relationship Id="rIdFont20" Type="http://schemas.openxmlformats.org/officeDocument/2006/relationships/font" Target="fonts/4e2e8b2c-e0f7-46be-b8a2-70b7009d932f.fntdata" /><ns0:Relationship Id="rIdFont21" Type="http://schemas.openxmlformats.org/officeDocument/2006/relationships/font" Target="fonts/6e70080b-8eb5-4301-83f4-8fc8c6b5c13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651920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65192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58379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672679"/>
            <a:ext cx="2857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282279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Conectividad Phygital &amp; Gestión Escolar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9942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Integración social y automatización de asistencia, permisos y conducta en el aula mediante tarjetas NFC.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63154"/>
            <a:ext cx="1571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0A5FA"/>
                </a:solidFill>
                <a:latin typeface="Space Grotesk"/>
              </a:rPr>
              <a:t>VIBE·MATCH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89004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099595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Microempresa Escolar PYME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2300" y="4890045"/>
            <a:ext cx="153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2300" y="5099595"/>
            <a:ext cx="1535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Maximo Orellana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281112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20466"/>
            <a:ext cx="3505200" cy="1979116"/>
          </a:xfrm>
          <a:prstGeom prst="roundRect">
            <a:avLst>
              <a:gd name="adj" fmla="val 77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13757"/>
            <a:ext cx="3505200" cy="2192387"/>
          </a:xfrm>
          <a:prstGeom prst="roundRect">
            <a:avLst>
              <a:gd name="adj" fmla="val 69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020466"/>
            <a:ext cx="3505200" cy="1979116"/>
          </a:xfrm>
          <a:prstGeom prst="roundRect">
            <a:avLst>
              <a:gd name="adj" fmla="val 77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34791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2808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34791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439566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332857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487" y="3439566"/>
            <a:ext cx="219075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950" y="590550"/>
            <a:ext cx="11096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DIAGNÓSTICO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Desafíos Diarios en el Entorno Escolar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906291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Pérdida de Tiempo Lectivo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258716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Llamar lista manualmente consume hasta 10 minutos por bloque de clase.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79958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Sin Control de Salidas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152007"/>
            <a:ext cx="2971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Falta de registro en pases al baño o movilidad de alumnos durante el período lectivo.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906291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Desconexión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258716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Barreras de interacción para nuevos alumnos e integración entre pares.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595437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05137"/>
            <a:ext cx="5324475" cy="1933575"/>
          </a:xfrm>
          <a:prstGeom prst="roundRect">
            <a:avLst>
              <a:gd name="adj" fmla="val 985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38875" y="2995612"/>
            <a:ext cx="5343525" cy="1952625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367087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367087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7909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10527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41960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37909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10527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419600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590550"/>
            <a:ext cx="14239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ECOSISTEMA 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La Solución VibeMatch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3975" y="3348037"/>
            <a:ext cx="341292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Componente Físico (NFC)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3767137"/>
            <a:ext cx="55697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Tarjeta Inteligente: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Reciclada y reprocesada.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4081462"/>
            <a:ext cx="55697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Lectura Instantánea: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Toque directo sin batería.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4395787"/>
            <a:ext cx="55697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Respaldo QR: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Compatibilidad total.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7050" y="3348037"/>
            <a:ext cx="241280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lus Jakarta Sans"/>
              </a:rPr>
              <a:t>Plataforma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3767137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Gestión Escolar: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Asistencia y conducta en vivo.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4081462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Módulo Social: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Intereses y Vibe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4395787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Panel Seguro: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Moderación y auditoría.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500187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89982"/>
            <a:ext cx="2600325" cy="1563885"/>
          </a:xfrm>
          <a:prstGeom prst="roundRect">
            <a:avLst>
              <a:gd name="adj" fmla="val 73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3189982"/>
            <a:ext cx="2600325" cy="1563885"/>
          </a:xfrm>
          <a:prstGeom prst="roundRect">
            <a:avLst>
              <a:gd name="adj" fmla="val 73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189982"/>
            <a:ext cx="2600325" cy="1563885"/>
          </a:xfrm>
          <a:prstGeom prst="roundRect">
            <a:avLst>
              <a:gd name="adj" fmla="val 73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3189982"/>
            <a:ext cx="2600325" cy="1563885"/>
          </a:xfrm>
          <a:prstGeom prst="roundRect">
            <a:avLst>
              <a:gd name="adj" fmla="val 73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28107"/>
            <a:ext cx="2000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428107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428107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428107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590550"/>
            <a:ext cx="132873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GESTIÓN DE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Automatización con Tarjeta NFC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4720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Toma de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42482"/>
            <a:ext cx="22193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Registro automático en el libro digital al tocar el lector del aula.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84720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Pases al Baño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4142482"/>
            <a:ext cx="22193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Marcaje de salida/retorno para control de tiempo y seguridad.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84720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Anotaciones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142482"/>
            <a:ext cx="22193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Asignación rápida de reconocimiento por participación.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84720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Anotaciones 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4142482"/>
            <a:ext cx="22193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Registro inmediato de faltas de convivencia con trazabilidad.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52550" y="33575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1550" y="33575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70551" y="33575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29552" y="33575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59055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EXPERIENCIA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Proceso de Marcaje en 4 Pasos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9675" y="33575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178" y="411956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Aproximación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62" y="4395787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Lector NFC o QR en la mesa del profesor.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8675" y="33575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1178" y="411956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6663" y="4395787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Confirmación del ID único del alumno.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7676" y="33575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0179" y="411956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Selección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5664" y="4395787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Docente selecciona la acción requerida.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6677" y="33575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9180" y="411956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Sincronización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4664" y="4395787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Actualización en la base centralizada.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966912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2728912"/>
            <a:ext cx="5648325" cy="2486025"/>
          </a:xfrm>
          <a:prstGeom prst="roundRect">
            <a:avLst>
              <a:gd name="adj" fmla="val 76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52925"/>
            <a:ext cx="1028700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2600" y="4352925"/>
            <a:ext cx="704850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71750" y="4352925"/>
            <a:ext cx="1228725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14775" y="4352925"/>
            <a:ext cx="895350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3414712"/>
            <a:ext cx="5019675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8400" y="3948112"/>
            <a:ext cx="5019675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8400" y="4481512"/>
            <a:ext cx="5019675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590550"/>
            <a:ext cx="17954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CONVIVENCIA ESCOLAR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Integración Social &amp; Vibe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267075"/>
            <a:ext cx="658832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Perfil y Compatibilidad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705225"/>
            <a:ext cx="5114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Permite a los estudiantes compartir intereses académicos y recreativos, eliminando fricciones iniciales en la interacción social.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043237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Estados Vibe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429125"/>
            <a:ext cx="819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#Deportes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429125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#Arte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150" y="4429125"/>
            <a:ext cx="1019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#Videojuegos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175" y="4429125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#Estudio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9012"/>
            <a:ext cx="4810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🟢 Disponible para conversar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2412"/>
            <a:ext cx="4810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🟡 Buscando grupo de estudio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95812"/>
            <a:ext cx="4810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🔴 Modo concentrado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585912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42357"/>
            <a:ext cx="3505200" cy="1659135"/>
          </a:xfrm>
          <a:prstGeom prst="roundRect">
            <a:avLst>
              <a:gd name="adj" fmla="val 9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142357"/>
            <a:ext cx="3505200" cy="1659135"/>
          </a:xfrm>
          <a:prstGeom prst="roundRect">
            <a:avLst>
              <a:gd name="adj" fmla="val 9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42357"/>
            <a:ext cx="3505200" cy="1659135"/>
          </a:xfrm>
          <a:prstGeom prst="roundRect">
            <a:avLst>
              <a:gd name="adj" fmla="val 9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40905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409057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409057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950" y="590550"/>
            <a:ext cx="14144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PRODUCTO FÍSICO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Phygital Pack Sostenible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6625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Economía Circular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161532"/>
            <a:ext cx="30670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Reutilización de tarjetas PVC (Modelo tipo 'Bip!') reprogramadas.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86625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Packaging Kraft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161532"/>
            <a:ext cx="30670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Empaque autoarmable eco-amigable sin adhesivos plásticos.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866257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Cumplimiento Normativo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161532"/>
            <a:ext cx="30670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Rotulado completo según regulaciones SERNAC, MINSAL y SUBTEL.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604962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3225"/>
            <a:ext cx="5676900" cy="2057400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00" y="4324350"/>
            <a:ext cx="49911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4324350"/>
            <a:ext cx="4991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514850"/>
            <a:ext cx="11430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50" y="590550"/>
            <a:ext cx="143351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INFRAESTRUCTURA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Seguridad y Control 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286125"/>
            <a:ext cx="65508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0A5FA"/>
                </a:solidFill>
                <a:latin typeface="Plus Jakarta Sans"/>
              </a:rPr>
              <a:t>Panel de Administración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05225"/>
            <a:ext cx="508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Acceso exclusivo para directivos y docentes para supervisar estadísticas de convivencia y registros de asistencia.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486275"/>
            <a:ext cx="6238875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Cifrado de datos punto a punto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071812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Moderación Activa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348037"/>
            <a:ext cx="5600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Filtros de lenguaje y alertas preventivas en canales comunitarios.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748087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Auditoría de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4024312"/>
            <a:ext cx="5600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Trazabilidad completa de eventos en el sistema.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424362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Anonimato Controlado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700587"/>
            <a:ext cx="5600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Protección de la identidad para resguardo del estudiante.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590550"/>
            <a:ext cx="1009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Impacto Estimado en la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9965" y="3414712"/>
            <a:ext cx="30360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Plus Jakarta Sans"/>
              </a:rP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9965" y="4252912"/>
            <a:ext cx="3036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Ahorro de tiempo en toma de lista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346" y="3414712"/>
            <a:ext cx="2917031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59669"/>
                </a:solidFill>
                <a:latin typeface="Plus Jakarta San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346" y="4252912"/>
            <a:ext cx="2917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Trazabilidad en permisos al baño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2381" y="3414712"/>
            <a:ext cx="292893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7C3AED"/>
                </a:solidFill>
                <a:latin typeface="Plus Jakarta Sans"/>
              </a:rP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2381" y="4252912"/>
            <a:ext cx="2928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Mayor integración entre alumnos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838325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57525"/>
            <a:ext cx="5695950" cy="1828800"/>
          </a:xfrm>
          <a:prstGeom prst="roundRect">
            <a:avLst>
              <a:gd name="adj" fmla="val 10416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3429000"/>
            <a:ext cx="1295400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10350" y="3124200"/>
            <a:ext cx="497205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10350" y="4048125"/>
            <a:ext cx="497205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590550"/>
            <a:ext cx="1666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EVALUACIÓN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Modelo de IA Gratis Recomendado para OpenCode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467100"/>
            <a:ext cx="1200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OPCIÓN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733800"/>
            <a:ext cx="652581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Plus Jakarta Sans"/>
              </a:rPr>
              <a:t>Gemini 1.5 Flash / DeepSeek R1 (Gratis)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095750"/>
            <a:ext cx="50673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E40AF"/>
                </a:solidFill>
                <a:latin typeface="Plus Jakarta Sans"/>
              </a:rPr>
              <a:t>Excelente equilibrio en velocidad, contexto extenso y precisión en generación de marcado HTML/PPTX y lógica de negocio.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3324225"/>
            <a:ext cx="5381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Llama 3.3 70B (Groq / OpenRouter 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3524250"/>
            <a:ext cx="538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Inferencia ultra rápida para redacción técnica y documentación.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4248150"/>
            <a:ext cx="5381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Qwen 2.5 Coder 32B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4448175"/>
            <a:ext cx="538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Especializado en generación estructurada de código y estilos CSS.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51907"/>
            <a:ext cx="3505200" cy="1240035"/>
          </a:xfrm>
          <a:prstGeom prst="roundRect">
            <a:avLst>
              <a:gd name="adj" fmla="val 122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351907"/>
            <a:ext cx="3505200" cy="1240035"/>
          </a:xfrm>
          <a:prstGeom prst="roundRect">
            <a:avLst>
              <a:gd name="adj" fmla="val 122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351907"/>
            <a:ext cx="3505200" cy="1240035"/>
          </a:xfrm>
          <a:prstGeom prst="roundRect">
            <a:avLst>
              <a:gd name="adj" fmla="val 122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5190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3351907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3351907"/>
            <a:ext cx="3505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590550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HOJA DE RUTA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334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Plan de Despliegue Escolar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5670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Fase 1: Prototipado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51982"/>
            <a:ext cx="30670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Grabado y sanitización de tarjetas NFC recicladas.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65670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Fase 2: Pilotaje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951982"/>
            <a:ext cx="30670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Prueba de control en cursos seleccionados para medir usabilidad.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656707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Fase 3: Escalabilidad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951982"/>
            <a:ext cx="30670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Implementación institucional con panel directivo habilitado.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29175" y="3990975"/>
            <a:ext cx="2533650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55" y="2419350"/>
            <a:ext cx="311288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VibeMatch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152775"/>
            <a:ext cx="714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Transformando la convivencia y la gestión escolar a través de la tecnología Phygital.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0" y="4114800"/>
            <a:ext cx="247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¿Preguntas o comentarios?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