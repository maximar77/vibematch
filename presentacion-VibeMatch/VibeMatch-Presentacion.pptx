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con energía: “VibeMatch nació como una app para conectar estudiantes por sus intereses.</a:t>
            </a:r>
          </a:p>
          <a:p>
            <a:r>
              <a:t>Hoy quiero mostrarles una segunda capa: la misma tarjeta puede ordenar la asistencia, los permisos</a:t>
            </a:r>
          </a:p>
          <a:p>
            <a:r>
              <a:t>y las anotaciones del colegio”. No leer la diapositiva; dejar que la imagen de la tarjeta haga el</a:t>
            </a:r>
          </a:p>
          <a:p>
            <a:r>
              <a:t>trabajo. Aclarar que la tarjeta de la foto es un prototipo y que la app web ya funciona.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dolores cotidianos, no tres problemas abstractos. La lista corta la clase; el permiso del baño</a:t>
            </a:r>
          </a:p>
          <a:p>
            <a:r>
              <a:t>se anota en cualquier parte; las anotaciones viven en cuadernos distintos. Cerrar con el marco legal:</a:t>
            </a:r>
          </a:p>
          <a:p>
            <a:r>
              <a:t>la Ley 21.801, vigente desde el año escolar 2026, prohíbe el celular personal durante la jornada.</a:t>
            </a:r>
          </a:p>
          <a:p>
            <a:r>
              <a:t>Eso descarta la típica solución “haz una app para el alumno” y abre la puerta a la tarjeta.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es la frase que quiero que se lleven: la tarjeta no compite con la app social, la potencia.</a:t>
            </a:r>
          </a:p>
          <a:p>
            <a:r>
              <a:t>El mismo gesto que abre un perfil puede abrir la lista del curso, un permiso al baño o una anotación.</a:t>
            </a:r>
          </a:p>
          <a:p>
            <a:r>
              <a:t>Identidad → acción → dato. Esa es toda la arquitectura.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Recorrer los cuatro pasos en menos de treinta segundos. Insistir en el paso 2: la tarjeta es una</a:t>
            </a:r>
          </a:p>
          <a:p>
            <a:r>
              <a:t>llave, no un archivador. El token no lleva datos personales. Y en el paso 4: el valor está en que</a:t>
            </a:r>
          </a:p>
          <a:p>
            <a:r>
              <a:t>el registro ocurre solo, sin que el docente tenga que abrir una planilla. Los canales importan:</a:t>
            </a:r>
          </a:p>
          <a:p>
            <a:r>
              <a:t>kiosco, PC con lector, PWA o QR. El colegio no tiene que comprar un dispositivo por alumno.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Separar claramente las dos capas. La capa social ya existe: acceso por tarjeta, onboarding, perfil,</a:t>
            </a:r>
          </a:p>
          <a:p>
            <a:r>
              <a:t>vibe check, zonas y PWA. La capa colegio es la extensión que estamos proponiendo: asistencia,</a:t>
            </a:r>
          </a:p>
          <a:p>
            <a:r>
              <a:t>permisos, anotaciones y panel. La frase de cierre es clave para privacidad: el estudiante no ve</a:t>
            </a:r>
          </a:p>
          <a:p>
            <a:r>
              <a:t>las anotaciones de otro, ni el panel de dirección. Todos usan la misma tarjeta, pero cada rol tiene</a:t>
            </a:r>
          </a:p>
          <a:p>
            <a:r>
              <a:t>su propio nivel de acceso.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el flujo con un ejemplo: el curso entra, cada tarjeta marca presencia, el profesor ve</a:t>
            </a:r>
          </a:p>
          <a:p>
            <a:r>
              <a:t>28 de 30 y puede cerrar la lista sin preguntar “¿quién falta?”. Aclarar que la pantalla es un</a:t>
            </a:r>
          </a:p>
          <a:p>
            <a:r>
              <a:t>concepto: hoy está implementado el acceso por tarjeta y el perfil; la asistencia es la siguiente</a:t>
            </a:r>
          </a:p>
          <a:p>
            <a:r>
              <a:t>capa. No prometer integración automática con SIGE todavía: se puede exportar y luego integrar.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caso del baño parece menor, pero es donde más se pierde trazabilidad y donde ocurren accidentes.</a:t>
            </a:r>
          </a:p>
          <a:p>
            <a:r>
              <a:t>La tarjeta permite dos marcas: salida y regreso. Inspectoría ve el tiempo transcurrido y recibe una</a:t>
            </a:r>
          </a:p>
          <a:p>
            <a:r>
              <a:t>alerta si alguien se pasa. Importante: el objetivo no es vigilar al estudiante, es saber dónde está</a:t>
            </a:r>
          </a:p>
          <a:p>
            <a:r>
              <a:t>si hay una emergencia y ordenar los cupos. Los datos son solo para el personal autorizado.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Dos ideas: registrar rápido y comunicar a tiempo. El profesor elige si es positiva o negativa,</a:t>
            </a:r>
          </a:p>
          <a:p>
            <a:r>
              <a:t>la categoría y agrega una frase. Se guarda quién y cuándo. El apoderado recibe el aviso el mismo</a:t>
            </a:r>
          </a:p>
          <a:p>
            <a:r>
              <a:t>día, no semanas después. Y lo positivo tiene el mismo peso que lo negativo: no es solo un libro de</a:t>
            </a:r>
          </a:p>
          <a:p>
            <a:r>
              <a:t>castigos. La ficha es un historial para acompañar, no una etiqueta permanente.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es el tablero que ve dirección o inspectoría. No es un panel para estudiantes. Muestra el pulso</a:t>
            </a:r>
          </a:p>
          <a:p>
            <a:r>
              <a:t>del día: asistencia, permisos activos, anotaciones y alertas. La idea es pasar de “enterarse al final</a:t>
            </a:r>
          </a:p>
          <a:p>
            <a:r>
              <a:t>del mes” a “resolver hoy”. Los reportes se exportan para el consejo de profesores o para la</a:t>
            </a:r>
          </a:p>
          <a:p>
            <a:r>
              <a:t>superintendencia si hace falta. La vista por curso permite comparar sin exponer nombres.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estamos en contra del celular: estamos leyendo la realidad legal y práctica del colegio. Una</a:t>
            </a:r>
          </a:p>
          <a:p>
            <a:r>
              <a:t>tarjeta no se queda sin batería, no interrumpe con notificaciones y no obliga a pedir el teléfono</a:t>
            </a:r>
          </a:p>
          <a:p>
            <a:r>
              <a:t>prestado. La comparación no es “NFC es mejor que una app” en abstracto; es mejor para este contexto</a:t>
            </a:r>
          </a:p>
          <a:p>
            <a:r>
              <a:t>escolar. La huella también resuelve el acceso, pero es un dato biométrico sensible y requiere</a:t>
            </a:r>
          </a:p>
          <a:p>
            <a:r>
              <a:t>enrolamiento. El QR queda como respaldo.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alguien pregunta “¿esto no es vigilancia?”, esta diapositiva es la respuesta. No usamos GPS ni</a:t>
            </a:r>
          </a:p>
          <a:p>
            <a:r>
              <a:t>cámara ni huella. La tarjeta solo prueba que la persona está frente al lector. Los datos personales</a:t>
            </a:r>
          </a:p>
          <a:p>
            <a:r>
              <a:t>están en el servidor, no en la tarjeta, y cada rol ve una parte. El colegio es el responsable de los</a:t>
            </a:r>
          </a:p>
          <a:p>
            <a:r>
              <a:t>datos; VibeMatch es el encargado del tratamiento. La retención y el consentimiento se definen con</a:t>
            </a:r>
          </a:p>
          <a:p>
            <a:r>
              <a:t>el colegio y con los apoderados.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inventar cifras: decir explícitamente que 1,5 horas es una estimación con supuestos y que el</a:t>
            </a:r>
          </a:p>
          <a:p>
            <a:r>
              <a:t>piloto la va a medir. Lo que sí es seguro es el cambio cualitativo: la lista deja de cortar la clase,</a:t>
            </a:r>
          </a:p>
          <a:p>
            <a:r>
              <a:t>el permiso deja de ser un papel suelto y el apoderado recibe información el mismo día. Ese es el</a:t>
            </a:r>
          </a:p>
          <a:p>
            <a:r>
              <a:t>impacto que importa.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piloto no es “probemos todo el colegio”. Es un curso, seis semanas y métricas claras. La primera</a:t>
            </a:r>
          </a:p>
          <a:p>
            <a:r>
              <a:t>semana no se instala nada: se conversa con dirección, inspectoría y el profesor. La segunda se prueba</a:t>
            </a:r>
          </a:p>
          <a:p>
            <a:r>
              <a:t>la asistencia; la tercera, baño y anotaciones. Las últimas tres semanas son uso real. Al final se</a:t>
            </a:r>
          </a:p>
          <a:p>
            <a:r>
              <a:t>entrega un reporte con tiempos, uso y satisfacción. Si funciona, se escala; si no, se corrige.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kit baja la barrera de entrada: el colegio no tiene que diseñar nada. Recibe tarjetas programadas,</a:t>
            </a:r>
          </a:p>
          <a:p>
            <a:r>
              <a:t>un punto de acceso, el panel y capacitación. La tarjeta se reutiliza: recuperamos tarjetas tipo Bip!</a:t>
            </a:r>
          </a:p>
          <a:p>
            <a:r>
              <a:t>en desuso, las sanitizamos y las reprogramamos. Eso conecta con el ADN de economía circular del</a:t>
            </a:r>
          </a:p>
          <a:p>
            <a:r>
              <a:t>proyecto y además reduce el costo por estudiante.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diapositiva da credibilidad: no es una idea en una servilleta. Ya existe la web con tarjeta,</a:t>
            </a:r>
          </a:p>
          <a:p>
            <a:r>
              <a:t>el onboarding, los perfiles y la PWA. Lo que estamos proponiendo es la siguiente capa. Decir con</a:t>
            </a:r>
          </a:p>
          <a:p>
            <a:r>
              <a:t>honestidad qué está implementado y qué es prototipo. Si el jurado pregunta “¿esto ya funciona?”,</a:t>
            </a:r>
          </a:p>
          <a:p>
            <a:r>
              <a:t>la respuesta es: la base sí; la gestión escolar es el piloto que queremos hacer con el colegio.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sin resumir todo otra vez. Una sola idea: la tarjeta puede ser la llave del día escolar.</a:t>
            </a:r>
          </a:p>
          <a:p>
            <a:r>
              <a:t>Invitar a un piloto con un curso y ofrecer una reunión con dirección e inspectoría. Si hay preguntas,</a:t>
            </a:r>
          </a:p>
          <a:p>
            <a:r>
              <a:t>pasar al anexo. Agradecer y dejar un silencio breve antes de abrir el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esta diapositiva solo si hay preguntas. Responder en una frase y ofrecer profundizar después.</a:t>
            </a:r>
          </a:p>
          <a:p>
            <a:r>
              <a:t>No entrar en tecnicismos de token o servidor salvo que los pregunten. Si preguntan por costos, decir</a:t>
            </a:r>
          </a:p>
          <a:p>
            <a:r>
              <a:t>que el piloto se cotiza según cursos y cantidad de tarjetas, y que el modelo busca ser accesible</a:t>
            </a:r>
          </a:p>
          <a:p>
            <a:r>
              <a:t>reutilizando tarjetas.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-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-1463040"/>
            <a:ext cx="7498079" cy="74980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" y="658368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16000"/>
            </a:srgbClr>
          </a:solidFill>
          <a:ln w="11430">
            <a:solidFill>
              <a:srgbClr val="6D7ED3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60" b="1" i="0" spc="140">
                <a:solidFill>
                  <a:srgbClr val="9FB3E8"/>
                </a:solidFill>
                <a:latin typeface="Segoe UI"/>
              </a:rPr>
              <a:t>PROYECTO ESCOLAR · 2026</a:t>
            </a:r>
          </a:p>
        </p:txBody>
      </p:sp>
      <p:pic>
        <p:nvPicPr>
          <p:cNvPr id="5" name="Picture 4" descr="logotipo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1207008"/>
            <a:ext cx="5394960" cy="11123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2770632"/>
            <a:ext cx="5486400" cy="1325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4F8"/>
                </a:solidFill>
                <a:latin typeface="Segoe UI Semibold"/>
              </a:rPr>
              <a:t>Una tarjeta.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4F4F8"/>
                </a:solidFill>
                <a:latin typeface="Segoe UI Semibold"/>
              </a:rPr>
              <a:t>Todo el colegio conectado.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224528"/>
            <a:ext cx="5074920" cy="960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ADC2"/>
                </a:solidFill>
                <a:latin typeface="Segoe UI"/>
              </a:rPr>
              <a:t>Identidad estudiantil, convivencia y gestión de aula en una sola plataforma phygital. Sin celular personal. Sin filas. Sin papeleo.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358384"/>
            <a:ext cx="731520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43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40" b="1" i="0" spc="120">
                <a:solidFill>
                  <a:srgbClr val="F4F4F8"/>
                </a:solidFill>
                <a:latin typeface="Segoe UI"/>
              </a:rPr>
              <a:t>NFC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99616" y="5358384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43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40" b="1" i="0" spc="120">
                <a:solidFill>
                  <a:srgbClr val="F4F4F8"/>
                </a:solidFill>
                <a:latin typeface="Segoe UI"/>
              </a:rPr>
              <a:t>WEB APP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88336" y="5358384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43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40" b="1" i="0" spc="120">
                <a:solidFill>
                  <a:srgbClr val="F4F4F8"/>
                </a:solidFill>
                <a:latin typeface="Segoe UI"/>
              </a:rPr>
              <a:t>PWA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53328"/>
            <a:ext cx="5669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7C8198"/>
                </a:solidFill>
                <a:latin typeface="Consolas"/>
              </a:rPr>
              <a:t>Maximo Orellana  ·  Colegio Superior del Maipo  ·  Octubre 2026</a:t>
            </a:r>
          </a:p>
        </p:txBody>
      </p:sp>
      <p:pic>
        <p:nvPicPr>
          <p:cNvPr id="12" name="Picture 11" descr="glow-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194560"/>
            <a:ext cx="6400800" cy="6400800"/>
          </a:xfrm>
          <a:prstGeom prst="rect">
            <a:avLst/>
          </a:prstGeom>
        </p:spPr>
      </p:pic>
      <p:pic>
        <p:nvPicPr>
          <p:cNvPr id="13" name="Picture 12" descr="tarjeta-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1389888"/>
            <a:ext cx="6126480" cy="4084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13648" y="5870448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7C8198"/>
                </a:solidFill>
                <a:latin typeface="Consolas"/>
              </a:rPr>
              <a:t>Prototipo físico + plataforma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02 / 17</a:t>
            </a:r>
          </a:p>
        </p:txBody>
      </p:sp>
      <p:pic>
        <p:nvPicPr>
          <p:cNvPr id="5" name="Picture 4" descr="glow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402336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EL DÍA ESCOLAR,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Tres tareas simples que consumen el día.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La información está, pero repartida entre papeles, planillas y la memoria de cada persona.</a:t>
            </a:r>
          </a:p>
        </p:txBody>
      </p:sp>
      <p:pic>
        <p:nvPicPr>
          <p:cNvPr id="9" name="Picture 8" descr="imagotip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084831"/>
            <a:ext cx="3493008" cy="290779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61626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304288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BBF24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89504"/>
            <a:ext cx="29077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4F8"/>
                </a:solidFill>
                <a:latin typeface="Segoe UI Semibold"/>
              </a:rPr>
              <a:t>La lista interrumpe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566160"/>
            <a:ext cx="2907792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Se toma a mano, clase por clase. Son minutos que se restan a la enseñanza y datos que quedan dispersos.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" y="4645152"/>
            <a:ext cx="475488" cy="3200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4361688" y="2084831"/>
            <a:ext cx="3493008" cy="290779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61626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54296" y="2304288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B7185"/>
                </a:solidFill>
                <a:latin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889504"/>
            <a:ext cx="29077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4F8"/>
                </a:solidFill>
                <a:latin typeface="Segoe UI Semibold"/>
              </a:rPr>
              <a:t>El baño sin trazabilidad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566160"/>
            <a:ext cx="2907792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¿Quién salió? ¿A qué hora? ¿Volvió? Inspectoría depende de la memoria y de un cuaderno que se pierde.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54296" y="4645152"/>
            <a:ext cx="475488" cy="32004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65008" y="2084831"/>
            <a:ext cx="3493008" cy="2907792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61626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57616" y="2304288"/>
            <a:ext cx="91440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9FB3E8"/>
                </a:solidFill>
                <a:latin typeface="Consola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7616" y="2889504"/>
            <a:ext cx="2907792" cy="5943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 i="0">
                <a:solidFill>
                  <a:srgbClr val="F4F4F8"/>
                </a:solidFill>
                <a:latin typeface="Segoe UI Semibold"/>
              </a:rPr>
              <a:t>Anotaciones que se pierden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7616" y="3566160"/>
            <a:ext cx="2907792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Lo positivo y lo negativo vive en lugares distintos. El apoderado se entera tarde y el historial no está claro.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57616" y="4645152"/>
            <a:ext cx="475488" cy="32004"/>
          </a:xfrm>
          <a:prstGeom prst="rect">
            <a:avLst/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58368" y="5321808"/>
            <a:ext cx="10874959" cy="841248"/>
          </a:xfrm>
          <a:prstGeom prst="roundRect">
            <a:avLst>
              <a:gd name="adj" fmla="val 8000"/>
            </a:avLst>
          </a:prstGeom>
          <a:solidFill>
            <a:srgbClr val="FBBF24">
              <a:alpha val="8000"/>
            </a:srgbClr>
          </a:solidFill>
          <a:ln w="10160">
            <a:solidFill>
              <a:srgbClr val="FBBF24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896112" y="5596128"/>
            <a:ext cx="329184" cy="292608"/>
          </a:xfrm>
          <a:prstGeom prst="roundRect">
            <a:avLst>
              <a:gd name="adj" fmla="val 25000"/>
            </a:avLst>
          </a:prstGeom>
          <a:solidFill>
            <a:srgbClr val="FBBF24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96112" y="5586984"/>
            <a:ext cx="329184" cy="29260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BBF24"/>
                </a:solidFill>
                <a:latin typeface="Segoe UI"/>
              </a:rPr>
              <a:t>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5477256"/>
            <a:ext cx="9692640" cy="5303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F4F4F8"/>
                </a:solidFill>
                <a:latin typeface="Segoe UI"/>
              </a:rPr>
              <a:t>Y la solución no puede ser el celular: la </a:t>
            </a:r>
            <a:r>
              <a:rPr sz="1220" b="1" i="0">
                <a:solidFill>
                  <a:srgbClr val="F4F4F8"/>
                </a:solidFill>
                <a:latin typeface="Segoe UI"/>
              </a:rPr>
              <a:t>Ley 21.801</a:t>
            </a:r>
            <a:r>
              <a:rPr sz="1220" b="0" i="0">
                <a:solidFill>
                  <a:srgbClr val="F4F4F8"/>
                </a:solidFill>
                <a:latin typeface="Segoe UI"/>
              </a:rPr>
              <a:t> prohíbe los dispositivos personales durante la jornada escolar. La tarjeta queda fuera de esa prohibición.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-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-1645920"/>
            <a:ext cx="8229600" cy="8229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71323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40">
                <a:solidFill>
                  <a:srgbClr val="9FB3E8"/>
                </a:solidFill>
                <a:latin typeface="Consolas"/>
              </a:rPr>
              <a:t>LA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7635240" cy="2651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4F4F8"/>
                </a:solidFill>
                <a:latin typeface="Segoe UI Semibold"/>
              </a:rPr>
              <a:t>La tarjeta que ya identifica al estudiante puede </a:t>
            </a:r>
            <a:r>
              <a:rPr sz="3800" b="1" i="0">
                <a:solidFill>
                  <a:srgbClr val="8FA7F8"/>
                </a:solidFill>
                <a:latin typeface="Segoe UI Semibold"/>
              </a:rPr>
              <a:t>ordenar todo su día.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840480"/>
            <a:ext cx="7040880" cy="868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ADC2"/>
                </a:solidFill>
                <a:latin typeface="Segoe UI"/>
              </a:rPr>
              <a:t>VibeMatch convierte una tarjeta NFC en la llave física de dos mundos: la vida social del estudiante y la gestión diaria del colegio.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074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9926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4F8"/>
                </a:solidFill>
                <a:latin typeface="Segoe UI Semibold"/>
              </a:rPr>
              <a:t>Identidad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7608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C8198"/>
                </a:solidFill>
                <a:latin typeface="Segoe UI"/>
              </a:rPr>
              <a:t>La tarjeta abre tu registro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7" y="5148072"/>
            <a:ext cx="2148840" cy="0"/>
          </a:xfrm>
          <a:prstGeom prst="line">
            <a:avLst/>
          </a:prstGeom>
          <a:ln w="10160">
            <a:solidFill>
              <a:srgbClr val="6D7ED3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054096" y="5074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310128" y="49926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4F8"/>
                </a:solidFill>
                <a:latin typeface="Segoe UI Semibold"/>
              </a:rPr>
              <a:t>Acción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527608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C8198"/>
                </a:solidFill>
                <a:latin typeface="Segoe UI"/>
              </a:rPr>
              <a:t>Lista, permiso o anotación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36976" y="5148072"/>
            <a:ext cx="2148840" cy="0"/>
          </a:xfrm>
          <a:prstGeom prst="line">
            <a:avLst/>
          </a:prstGeom>
          <a:ln w="10160">
            <a:solidFill>
              <a:srgbClr val="6D7ED3">
                <a:alpha val="3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449824" y="50749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705856" y="4992624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4F4F8"/>
                </a:solidFill>
                <a:latin typeface="Segoe UI Semibold"/>
              </a:rPr>
              <a:t>Dato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6" y="527608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7C8198"/>
                </a:solidFill>
                <a:latin typeface="Segoe UI"/>
              </a:rPr>
              <a:t>Hora, lugar y responsable</a:t>
            </a:r>
          </a:p>
        </p:txBody>
      </p:sp>
      <p:sp>
        <p:nvSpPr>
          <p:cNvPr id="18" name="Oval 17"/>
          <p:cNvSpPr/>
          <p:nvPr/>
        </p:nvSpPr>
        <p:spPr>
          <a:xfrm>
            <a:off x="8641080" y="2075688"/>
            <a:ext cx="2651760" cy="2651760"/>
          </a:xfrm>
          <a:prstGeom prst="ellipse">
            <a:avLst/>
          </a:prstGeom>
          <a:noFill/>
          <a:ln w="12700">
            <a:solidFill>
              <a:srgbClr val="6D7ED3">
                <a:alpha val="22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75320" y="1709928"/>
            <a:ext cx="3383280" cy="3383280"/>
          </a:xfrm>
          <a:prstGeom prst="ellipse">
            <a:avLst/>
          </a:prstGeom>
          <a:noFill/>
          <a:ln w="12700">
            <a:solidFill>
              <a:srgbClr val="6D7ED3">
                <a:alpha val="16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909560" y="1344168"/>
            <a:ext cx="4114800" cy="4114800"/>
          </a:xfrm>
          <a:prstGeom prst="ellipse">
            <a:avLst/>
          </a:prstGeom>
          <a:noFill/>
          <a:ln w="12700">
            <a:solidFill>
              <a:srgbClr val="6D7ED3">
                <a:alpha val="11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solog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984" y="2240280"/>
            <a:ext cx="1874519" cy="211484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823960" y="5349240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C8198"/>
                </a:solidFill>
                <a:latin typeface="Consolas"/>
              </a:rPr>
              <a:t>Un gesto.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919" b="0" i="0">
                <a:solidFill>
                  <a:srgbClr val="7C8198"/>
                </a:solidFill>
                <a:latin typeface="Consolas"/>
              </a:rPr>
              <a:t>Cero pantallas personales.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CÓMO FUNCIONA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Un gesto. Cuatro pasos.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La tarjeta no necesita batería, pantalla ni una app instalada en el teléfono del estudiante.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914400" y="2542032"/>
            <a:ext cx="10298887" cy="0"/>
          </a:xfrm>
          <a:prstGeom prst="line">
            <a:avLst/>
          </a:prstGeom>
          <a:ln w="15240">
            <a:solidFill>
              <a:srgbClr val="6D7ED3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8368" y="2249424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17780">
            <a:solidFill>
              <a:srgbClr val="6D7ED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2249424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A7F8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30358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4F8"/>
                </a:solidFill>
                <a:latin typeface="Segoe UI Semibold"/>
              </a:rPr>
              <a:t>Acerca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456432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La tarjeta se aproxima al Punto Vibe o al lector USB del computador.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2249424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17780">
            <a:solidFill>
              <a:srgbClr val="6D7ED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401568" y="2249424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A7F8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0358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4F8"/>
                </a:solidFill>
                <a:latin typeface="Segoe UI Semibold"/>
              </a:rPr>
              <a:t>Valida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3456432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El sistema verifica el token único. La tarjeta no guarda nombre, RUT ni curso.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4768" y="2249424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17780">
            <a:solidFill>
              <a:srgbClr val="6D7ED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44768" y="2249424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A7F8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30358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4F8"/>
                </a:solidFill>
                <a:latin typeface="Segoe UI Semibold"/>
              </a:rPr>
              <a:t>Muestra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3456432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Se abre el contexto correcto: perfil, curso, permiso o ficha del estudiante.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7" y="2249424"/>
            <a:ext cx="585216" cy="585216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17780">
            <a:solidFill>
              <a:srgbClr val="6D7ED3">
                <a:alpha val="5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887967" y="2249424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FA7F8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7" y="30358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4F4F8"/>
                </a:solidFill>
                <a:latin typeface="Segoe UI Semibold"/>
              </a:rPr>
              <a:t>Registra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87967" y="3456432"/>
            <a:ext cx="2331720" cy="1143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Hora, lugar y responsable quedan en el panel del colegio al instante.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983480"/>
            <a:ext cx="10874959" cy="969264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0160">
            <a:solidFill>
              <a:srgbClr val="FFFFFF">
                <a:alpha val="1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50976" y="5138928"/>
            <a:ext cx="16459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60">
                <a:solidFill>
                  <a:srgbClr val="9FB3E8"/>
                </a:solidFill>
                <a:latin typeface="Consolas"/>
              </a:rPr>
              <a:t>CANALES DE ACCESO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" y="539496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F4F4F8"/>
                </a:solidFill>
                <a:latin typeface="Segoe UI"/>
              </a:rPr>
              <a:t>Punto Vibe (kiosco)     ·     PC con lector NFC     ·     PWA / tablet institucional     ·     QR de respaldo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67367" y="5138928"/>
            <a:ext cx="17373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6EE7B7"/>
                </a:solidFill>
                <a:latin typeface="Consolas"/>
              </a:rPr>
              <a:t>SIN CELULAR PERSONAL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05 / 17</a:t>
            </a:r>
          </a:p>
        </p:txBody>
      </p:sp>
      <p:pic>
        <p:nvPicPr>
          <p:cNvPr id="5" name="Picture 4" descr="glow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3474720"/>
            <a:ext cx="5669280" cy="5669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UNA PLATAFORMA, DOS CAPAS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Una tarjeta, dos experiencias.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El estudiante ve su vida social. El colegio ve la operación diaria. La tarjeta es la misma; los permisos, no.</a:t>
            </a:r>
          </a:p>
        </p:txBody>
      </p:sp>
      <p:pic>
        <p:nvPicPr>
          <p:cNvPr id="9" name="Picture 8" descr="imagotip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2029968"/>
            <a:ext cx="5340096" cy="397763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B203D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6D7ED3">
                <a:alpha val="3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50976" y="2249424"/>
            <a:ext cx="1783080" cy="274320"/>
          </a:xfrm>
          <a:prstGeom prst="roundRect">
            <a:avLst>
              <a:gd name="adj" fmla="val 50000"/>
            </a:avLst>
          </a:prstGeom>
          <a:solidFill>
            <a:srgbClr val="6D7ED3">
              <a:alpha val="16000"/>
            </a:srgbClr>
          </a:solidFill>
          <a:ln w="11430">
            <a:solidFill>
              <a:srgbClr val="6D7ED3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19" b="1" i="0" spc="100">
                <a:solidFill>
                  <a:srgbClr val="9FB3E8"/>
                </a:solidFill>
                <a:latin typeface="Segoe UI"/>
              </a:rPr>
              <a:t>VIBEMATCH SOCIAL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624328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4F8"/>
                </a:solidFill>
                <a:latin typeface="Segoe UI Semibold"/>
              </a:rPr>
              <a:t>Para el estudiante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54096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Conecta por lo que te mueve, sin métricas vacías.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" y="37398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52144" y="3657600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Perfil con nombre preferido, pronombres y curso.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41239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52144" y="4041648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Vibe Check del día: estudio, conversar, buscar equipo.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0976" y="4507992"/>
            <a:ext cx="68580" cy="68580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52144" y="4425696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Cuatro zonas: deportes, arte, videojuegos y estudio.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0976" y="4892040"/>
            <a:ext cx="68580" cy="68580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52144" y="4809744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Chat moderado por la comunidad escolar.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6" y="5358384"/>
            <a:ext cx="1874519" cy="274320"/>
          </a:xfrm>
          <a:prstGeom prst="roundRect">
            <a:avLst>
              <a:gd name="adj" fmla="val 50000"/>
            </a:avLst>
          </a:prstGeom>
          <a:solidFill>
            <a:srgbClr val="6EE7B7">
              <a:alpha val="16000"/>
            </a:srgbClr>
          </a:solidFill>
          <a:ln w="11430">
            <a:solidFill>
              <a:srgbClr val="6EE7B7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80" b="1" i="0" spc="80">
                <a:solidFill>
                  <a:srgbClr val="6EE7B7"/>
                </a:solidFill>
                <a:latin typeface="Segoe UI"/>
              </a:rPr>
              <a:t>YA DISPONIBLE EN LA WEB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2029968"/>
            <a:ext cx="5340096" cy="3977639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02B2B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5EEAD4">
                <a:alpha val="2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6483096" y="2249424"/>
            <a:ext cx="1920240" cy="274320"/>
          </a:xfrm>
          <a:prstGeom prst="roundRect">
            <a:avLst>
              <a:gd name="adj" fmla="val 50000"/>
            </a:avLst>
          </a:prstGeom>
          <a:solidFill>
            <a:srgbClr val="5EEAD4">
              <a:alpha val="16000"/>
            </a:srgbClr>
          </a:solidFill>
          <a:ln w="11430">
            <a:solidFill>
              <a:srgbClr val="5EEAD4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19" b="1" i="0" spc="100">
                <a:solidFill>
                  <a:srgbClr val="5EEAD4"/>
                </a:solidFill>
                <a:latin typeface="Segoe UI"/>
              </a:rPr>
              <a:t>VIBEMATCH COLEGIO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3096" y="2624328"/>
            <a:ext cx="4480560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4F4F8"/>
                </a:solidFill>
                <a:latin typeface="Segoe UI Semibold"/>
              </a:rPr>
              <a:t>Para el establecimiento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3054096"/>
            <a:ext cx="461772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A8ADC2"/>
                </a:solidFill>
                <a:latin typeface="Segoe UI"/>
              </a:rPr>
              <a:t>Menos planillas. Más tiempo para enseñar y acompañar.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3096" y="37398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84264" y="3657600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Asistencia por curso, en vivo y sin interrumpir.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83096" y="4123944"/>
            <a:ext cx="68580" cy="6858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684264" y="4041648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Permisos al baño con hora, cupo y regreso.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83096" y="4507992"/>
            <a:ext cx="68580" cy="6858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684264" y="4425696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Anotaciones positivas y negativas con contexto.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83096" y="4892040"/>
            <a:ext cx="68580" cy="68580"/>
          </a:xfrm>
          <a:prstGeom prst="roundRect">
            <a:avLst>
              <a:gd name="adj" fmla="val 50000"/>
            </a:avLst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684264" y="4809744"/>
            <a:ext cx="4507992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40" b="0" i="0">
                <a:solidFill>
                  <a:srgbClr val="A8ADC2"/>
                </a:solidFill>
                <a:latin typeface="Segoe UI"/>
              </a:rPr>
              <a:t>Panel por roles, alertas y reportes exportables.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83096" y="5358384"/>
            <a:ext cx="210312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1430">
            <a:solidFill>
              <a:srgbClr val="FBBF24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80" b="1" i="0" spc="80">
                <a:solidFill>
                  <a:srgbClr val="FBBF24"/>
                </a:solidFill>
                <a:latin typeface="Segoe UI"/>
              </a:rPr>
              <a:t>EXTENSIÓN · EN DESARROLLO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144768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7C8198"/>
                </a:solidFill>
                <a:latin typeface="Consolas"/>
              </a:rPr>
              <a:t>Los mismos datos. Distintos permisos. Cada rol ve solo lo que necesita.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06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MÓDULO AULA · 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La lista se toma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mientras entran</a:t>
            </a:r>
            <a:r>
              <a:rPr sz="3300" b="1" i="0">
                <a:solidFill>
                  <a:srgbClr val="F4F4F8"/>
                </a:solidFill>
                <a:latin typeface="Segoe UI Semibol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Cada estudiante acerca su tarjeta al entrar. El curso se marca solo y el docente cierra la lista en segundos.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2103120"/>
            <a:ext cx="3977639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A8ADC2"/>
                </a:solidFill>
                <a:latin typeface="Segoe UI"/>
              </a:rPr>
              <a:t>La asistencia deja de ser una interrupción al inicio de la clase y pasa a ser un registro continuo, visible para el profesor y para inspectoría.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442716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3433572"/>
            <a:ext cx="21031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429000"/>
            <a:ext cx="36027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DC2"/>
                </a:solidFill>
                <a:latin typeface="Segoe UI"/>
              </a:rPr>
              <a:t>Presente, atrasado o ausente sin escribir nombres.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854196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3845052"/>
            <a:ext cx="21031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3840480"/>
            <a:ext cx="36027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DC2"/>
                </a:solidFill>
                <a:latin typeface="Segoe UI"/>
              </a:rPr>
              <a:t>Funciona con profesor titular, reemplazo o inspectoría.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265676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8368" y="4256532"/>
            <a:ext cx="21031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" y="4251960"/>
            <a:ext cx="36027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DC2"/>
                </a:solidFill>
                <a:latin typeface="Segoe UI"/>
              </a:rPr>
              <a:t>Cierre en vivo y resumen exportable por curso.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677156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4668012"/>
            <a:ext cx="210312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4663440"/>
            <a:ext cx="360273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ADC2"/>
                </a:solidFill>
                <a:latin typeface="Segoe UI"/>
              </a:rPr>
              <a:t>El estudiante no necesita sacar su celular.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04688"/>
            <a:ext cx="26060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1430">
            <a:solidFill>
              <a:srgbClr val="FBBF24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70">
                <a:solidFill>
                  <a:srgbClr val="FBBF24"/>
                </a:solidFill>
                <a:latin typeface="Segoe UI"/>
              </a:rPr>
              <a:t>CONCEPTO DE INTERFAZ · EN DESARROLLO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92624" y="1993392"/>
            <a:ext cx="6601968" cy="4224528"/>
          </a:xfrm>
          <a:prstGeom prst="roundRect">
            <a:avLst>
              <a:gd name="adj" fmla="val 4000"/>
            </a:avLst>
          </a:prstGeom>
          <a:solidFill>
            <a:srgbClr val="00000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919472" y="1901952"/>
            <a:ext cx="6601968" cy="4224528"/>
          </a:xfrm>
          <a:prstGeom prst="roundRect">
            <a:avLst>
              <a:gd name="adj" fmla="val 4000"/>
            </a:avLst>
          </a:prstGeom>
          <a:solidFill>
            <a:srgbClr val="0B0B14"/>
          </a:solidFill>
          <a:ln w="12700">
            <a:solidFill>
              <a:srgbClr val="FFFFF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919472" y="1901952"/>
            <a:ext cx="6601968" cy="420624"/>
          </a:xfrm>
          <a:prstGeom prst="roundRect">
            <a:avLst>
              <a:gd name="adj" fmla="val 4000"/>
            </a:avLst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084064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7185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5221224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BF2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5358383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6EE7B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22976" y="2011680"/>
            <a:ext cx="48646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40">
                <a:solidFill>
                  <a:srgbClr val="7C8198"/>
                </a:solidFill>
                <a:latin typeface="Consolas"/>
              </a:rPr>
              <a:t>PANEL VIBEMATCH  /  ASISTENCIA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05872" y="1984248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6EE7B7">
              <a:alpha val="16000"/>
            </a:srgbClr>
          </a:solidFill>
          <a:ln w="11430">
            <a:solidFill>
              <a:srgbClr val="6EE7B7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60">
                <a:solidFill>
                  <a:srgbClr val="6EE7B7"/>
                </a:solidFill>
                <a:latin typeface="Segoe UI"/>
              </a:rPr>
              <a:t>EN VIVO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919472" y="2322576"/>
            <a:ext cx="6601968" cy="0"/>
          </a:xfrm>
          <a:prstGeom prst="line">
            <a:avLst/>
          </a:prstGeom>
          <a:ln w="7620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193792" y="2468880"/>
            <a:ext cx="329184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4F4F8"/>
                </a:solidFill>
                <a:latin typeface="Segoe UI Semibold"/>
              </a:rPr>
              <a:t>1° Medio B  ·  Lenguaje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93792" y="2798064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198"/>
                </a:solidFill>
                <a:latin typeface="Consolas"/>
              </a:rPr>
              <a:t>Martes 22 de octubre  ·  08:05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68128" y="2432304"/>
            <a:ext cx="1078992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8FA7F8"/>
                </a:solidFill>
                <a:latin typeface="Consolas"/>
              </a:rPr>
              <a:t>28/30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68128" y="2834640"/>
            <a:ext cx="10789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198"/>
                </a:solidFill>
                <a:latin typeface="Consolas"/>
              </a:rPr>
              <a:t>presentes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193792" y="3072384"/>
            <a:ext cx="6053327" cy="0"/>
          </a:xfrm>
          <a:prstGeom prst="line">
            <a:avLst/>
          </a:prstGeom>
          <a:ln w="762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193792" y="3218688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5294376" y="33924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294376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CR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79" y="3337560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Camila R.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79" y="3621024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779007" y="3575304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34556" y="3218688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6835140" y="33924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835140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10044" y="3337560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Matías 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210044" y="3621024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19772" y="3575304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75320" y="3218688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ounded Rectangle 49"/>
          <p:cNvSpPr/>
          <p:nvPr/>
        </p:nvSpPr>
        <p:spPr>
          <a:xfrm>
            <a:off x="8375904" y="33924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375904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JP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50808" y="3337560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Josefa P.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750808" y="3621024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860536" y="3575304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816084" y="3218688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ounded Rectangle 55"/>
          <p:cNvSpPr/>
          <p:nvPr/>
        </p:nvSpPr>
        <p:spPr>
          <a:xfrm>
            <a:off x="9916667" y="3392424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9916667" y="3392424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BT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91572" y="3337560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Benjamín 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91572" y="3621024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401300" y="3575304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193792" y="4059936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ounded Rectangle 61"/>
          <p:cNvSpPr/>
          <p:nvPr/>
        </p:nvSpPr>
        <p:spPr>
          <a:xfrm>
            <a:off x="5294376" y="4233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294376" y="42336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669279" y="4178808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Antonia L.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79" y="44622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5779007" y="4416552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FBBF24"/>
                </a:solidFill>
                <a:latin typeface="Consolas"/>
              </a:rPr>
              <a:t>Atrasado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734556" y="4059936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ounded Rectangle 67"/>
          <p:cNvSpPr/>
          <p:nvPr/>
        </p:nvSpPr>
        <p:spPr>
          <a:xfrm>
            <a:off x="6835140" y="4233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6835140" y="42336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VM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210044" y="4178808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Vicente M.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210044" y="44622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319772" y="4416552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275320" y="4059936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ounded Rectangle 73"/>
          <p:cNvSpPr/>
          <p:nvPr/>
        </p:nvSpPr>
        <p:spPr>
          <a:xfrm>
            <a:off x="8375904" y="4233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8375904" y="42336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EC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50808" y="4178808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Emilia C.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750808" y="44622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860536" y="4416552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9816084" y="4059936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ounded Rectangle 79"/>
          <p:cNvSpPr/>
          <p:nvPr/>
        </p:nvSpPr>
        <p:spPr>
          <a:xfrm>
            <a:off x="9916667" y="42336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9916667" y="4233672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TV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91572" y="4178808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Tomás V.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10291572" y="4462272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10401300" y="4416552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193792" y="4901184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ounded Rectangle 85"/>
          <p:cNvSpPr/>
          <p:nvPr/>
        </p:nvSpPr>
        <p:spPr>
          <a:xfrm>
            <a:off x="5294376" y="5074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5294376" y="50749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IF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669279" y="5020056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Isidora F.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5669279" y="5303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5779007" y="5257800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6734556" y="4901184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ounded Rectangle 91"/>
          <p:cNvSpPr/>
          <p:nvPr/>
        </p:nvSpPr>
        <p:spPr>
          <a:xfrm>
            <a:off x="6835140" y="5074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835140" y="50749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AH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210044" y="5020056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Agustín H.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210044" y="5303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319772" y="5257800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FBBF24"/>
                </a:solidFill>
                <a:latin typeface="Consolas"/>
              </a:rPr>
              <a:t>Atrasado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8275320" y="4901184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ounded Rectangle 97"/>
          <p:cNvSpPr/>
          <p:nvPr/>
        </p:nvSpPr>
        <p:spPr>
          <a:xfrm>
            <a:off x="8375904" y="5074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375904" y="50749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FD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750808" y="5020056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Florencia D.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8750808" y="5303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860536" y="5257800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6EE7B7"/>
                </a:solidFill>
                <a:latin typeface="Consolas"/>
              </a:rPr>
              <a:t>Presente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9816084" y="4901184"/>
            <a:ext cx="1431036" cy="713232"/>
          </a:xfrm>
          <a:prstGeom prst="roundRect">
            <a:avLst>
              <a:gd name="adj" fmla="val 12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ounded Rectangle 103"/>
          <p:cNvSpPr/>
          <p:nvPr/>
        </p:nvSpPr>
        <p:spPr>
          <a:xfrm>
            <a:off x="9916667" y="5074920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6D7ED3">
              <a:alpha val="2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9916667" y="5074920"/>
            <a:ext cx="31089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FB3E8"/>
                </a:solidFill>
                <a:latin typeface="Segoe UI"/>
              </a:rPr>
              <a:t>MA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291572" y="5020056"/>
            <a:ext cx="90068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Martín A.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291572" y="5303520"/>
            <a:ext cx="64008" cy="64008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401300" y="5257800"/>
            <a:ext cx="790956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10" b="0" i="0">
                <a:solidFill>
                  <a:srgbClr val="FB7185"/>
                </a:solidFill>
                <a:latin typeface="Consolas"/>
              </a:rPr>
              <a:t>Ausente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193792" y="5650992"/>
            <a:ext cx="3977639" cy="73152"/>
          </a:xfrm>
          <a:prstGeom prst="roundRect">
            <a:avLst>
              <a:gd name="adj" fmla="val 50000"/>
            </a:avLst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ounded Rectangle 109"/>
          <p:cNvSpPr/>
          <p:nvPr/>
        </p:nvSpPr>
        <p:spPr>
          <a:xfrm>
            <a:off x="5193792" y="5650992"/>
            <a:ext cx="3699205" cy="73152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5193792" y="5769864"/>
            <a:ext cx="40233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C8198"/>
                </a:solidFill>
                <a:latin typeface="Consolas"/>
              </a:rPr>
              <a:t>28 presentes · 2 atrasados · 1 ausente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10012680" y="5632704"/>
            <a:ext cx="1207008" cy="274320"/>
          </a:xfrm>
          <a:prstGeom prst="roundRect">
            <a:avLst>
              <a:gd name="adj" fmla="val 50000"/>
            </a:avLst>
          </a:prstGeom>
          <a:solidFill>
            <a:srgbClr val="6EE7B7">
              <a:alpha val="16000"/>
            </a:srgbClr>
          </a:solidFill>
          <a:ln w="11430">
            <a:solidFill>
              <a:srgbClr val="6EE7B7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60" b="1" i="0" spc="40">
                <a:solidFill>
                  <a:srgbClr val="07070D"/>
                </a:solidFill>
                <a:latin typeface="Segoe UI"/>
              </a:rPr>
              <a:t>Cerrar lista  →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326880" y="5358383"/>
            <a:ext cx="17373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vista parcial · 12 de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MÓDULO CONVIVENCIA · 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Permisos al baño con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hora, cupo y regreso</a:t>
            </a:r>
            <a:r>
              <a:rPr sz="3300" b="1" i="0">
                <a:solidFill>
                  <a:srgbClr val="F4F4F8"/>
                </a:solidFill>
                <a:latin typeface="Segoe UI Semibol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Salida y entrada con la misma tarjeta. Inspectoría ve quién está fuera, desde cuándo y si volvió.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19" y="1993392"/>
            <a:ext cx="6675120" cy="4206240"/>
          </a:xfrm>
          <a:prstGeom prst="roundRect">
            <a:avLst>
              <a:gd name="adj" fmla="val 4000"/>
            </a:avLst>
          </a:prstGeom>
          <a:solidFill>
            <a:srgbClr val="00000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58368" y="1901952"/>
            <a:ext cx="6675120" cy="4206240"/>
          </a:xfrm>
          <a:prstGeom prst="roundRect">
            <a:avLst>
              <a:gd name="adj" fmla="val 4000"/>
            </a:avLst>
          </a:prstGeom>
          <a:solidFill>
            <a:srgbClr val="0B0B14"/>
          </a:solidFill>
          <a:ln w="12700">
            <a:solidFill>
              <a:srgbClr val="FFFFF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58368" y="1901952"/>
            <a:ext cx="6675120" cy="420624"/>
          </a:xfrm>
          <a:prstGeom prst="roundRect">
            <a:avLst>
              <a:gd name="adj" fmla="val 4000"/>
            </a:avLst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22959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7185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960119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BF2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1097280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6EE7B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61872" y="2011680"/>
            <a:ext cx="4937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40">
                <a:solidFill>
                  <a:srgbClr val="7C8198"/>
                </a:solidFill>
                <a:latin typeface="Consolas"/>
              </a:rPr>
              <a:t>PANEL VIBEMATCH  /  PERMISOS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84248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1430">
            <a:solidFill>
              <a:srgbClr val="FBBF24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60">
                <a:solidFill>
                  <a:srgbClr val="FBBF24"/>
                </a:solidFill>
                <a:latin typeface="Segoe UI"/>
              </a:rPr>
              <a:t>3 ACTIVOS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58368" y="2322576"/>
            <a:ext cx="6675120" cy="0"/>
          </a:xfrm>
          <a:prstGeom prst="line">
            <a:avLst/>
          </a:prstGeom>
          <a:ln w="7620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32688" y="2468880"/>
            <a:ext cx="356616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F4F8"/>
                </a:solidFill>
                <a:latin typeface="Segoe UI Semibold"/>
              </a:rPr>
              <a:t>Baño · Patio central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2798064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198"/>
                </a:solidFill>
                <a:latin typeface="Consolas"/>
              </a:rPr>
              <a:t>Turno 10:30 – 11:00  ·  cupo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450592"/>
            <a:ext cx="11430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BBF24"/>
                </a:solidFill>
                <a:latin typeface="Consolas"/>
              </a:rPr>
              <a:t>2/3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6168" y="2852928"/>
            <a:ext cx="1143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C8198"/>
                </a:solidFill>
                <a:latin typeface="Consolas"/>
              </a:rPr>
              <a:t>cupos usados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" y="3090672"/>
            <a:ext cx="6126480" cy="0"/>
          </a:xfrm>
          <a:prstGeom prst="line">
            <a:avLst/>
          </a:prstGeom>
          <a:ln w="762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" y="3236976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1051560" y="342900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BBF24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51560" y="34290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BBF24"/>
                </a:solidFill>
                <a:latin typeface="Segoe UI"/>
              </a:rPr>
              <a:t>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34670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F4F8"/>
                </a:solidFill>
                <a:latin typeface="Segoe UI"/>
              </a:rPr>
              <a:t>Josefa P.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81328" y="358444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C8198"/>
                </a:solidFill>
                <a:latin typeface="Consolas"/>
              </a:rPr>
              <a:t>1° Medio B  ·  Baño · Patio central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04487" y="337413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F4F8"/>
                </a:solidFill>
                <a:latin typeface="Consolas"/>
              </a:rPr>
              <a:t>10:42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04487" y="362102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salida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8888" y="337413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BBF24"/>
                </a:solidFill>
                <a:latin typeface="Consolas"/>
              </a:rPr>
              <a:t>4:12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18888" y="362102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transcurrido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59" y="3456432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1430">
            <a:solidFill>
              <a:srgbClr val="FBBF24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60">
                <a:solidFill>
                  <a:srgbClr val="FBBF24"/>
                </a:solidFill>
                <a:latin typeface="Segoe UI"/>
              </a:rPr>
              <a:t>En ruta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2688" y="4059936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1051560" y="425196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FB7185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051560" y="425196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B7185"/>
                </a:solidFill>
                <a:latin typeface="Segoe UI"/>
              </a:rPr>
              <a:t>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16966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F4F8"/>
                </a:solidFill>
                <a:latin typeface="Segoe UI"/>
              </a:rPr>
              <a:t>Matías 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440740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C8198"/>
                </a:solidFill>
                <a:latin typeface="Consolas"/>
              </a:rPr>
              <a:t>1° Medio A  ·  Baño · Biblioteca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04487" y="419709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F4F8"/>
                </a:solidFill>
                <a:latin typeface="Consolas"/>
              </a:rPr>
              <a:t>10:39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04487" y="444398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salida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419709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B7185"/>
                </a:solidFill>
                <a:latin typeface="Consolas"/>
              </a:rPr>
              <a:t>7:05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18888" y="444398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transcurrido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59" y="4279392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FB7185">
              <a:alpha val="16000"/>
            </a:srgbClr>
          </a:solidFill>
          <a:ln w="11430">
            <a:solidFill>
              <a:srgbClr val="FB7185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60">
                <a:solidFill>
                  <a:srgbClr val="FB7185"/>
                </a:solidFill>
                <a:latin typeface="Segoe UI"/>
              </a:rPr>
              <a:t>Excedido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" y="4882896"/>
            <a:ext cx="612648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1051560" y="5074920"/>
            <a:ext cx="329184" cy="329184"/>
          </a:xfrm>
          <a:prstGeom prst="roundRect">
            <a:avLst>
              <a:gd name="adj" fmla="val 50000"/>
            </a:avLst>
          </a:prstGeom>
          <a:solidFill>
            <a:srgbClr val="6EE7B7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051560" y="50749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EE7B7"/>
                </a:solidFill>
                <a:latin typeface="Segoe UI"/>
              </a:rPr>
              <a:t>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81328" y="4992624"/>
            <a:ext cx="18288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F4F4F8"/>
                </a:solidFill>
                <a:latin typeface="Segoe UI"/>
              </a:rPr>
              <a:t>Antonia L.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81328" y="5230368"/>
            <a:ext cx="20116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C8198"/>
                </a:solidFill>
                <a:latin typeface="Consolas"/>
              </a:rPr>
              <a:t>2° Medio C  ·  Enfermería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904487" y="502005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4F4F8"/>
                </a:solidFill>
                <a:latin typeface="Consolas"/>
              </a:rPr>
              <a:t>10:45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04487" y="526694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salida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818888" y="5020056"/>
            <a:ext cx="7772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EE7B7"/>
                </a:solidFill>
                <a:latin typeface="Consolas"/>
              </a:rPr>
              <a:t>1:20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818888" y="5266944"/>
            <a:ext cx="10972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transcurrido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852159" y="5102352"/>
            <a:ext cx="1078992" cy="274320"/>
          </a:xfrm>
          <a:prstGeom prst="roundRect">
            <a:avLst>
              <a:gd name="adj" fmla="val 50000"/>
            </a:avLst>
          </a:prstGeom>
          <a:solidFill>
            <a:srgbClr val="6EE7B7">
              <a:alpha val="16000"/>
            </a:srgbClr>
          </a:solidFill>
          <a:ln w="11430">
            <a:solidFill>
              <a:srgbClr val="6EE7B7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60">
                <a:solidFill>
                  <a:srgbClr val="6EE7B7"/>
                </a:solidFill>
                <a:latin typeface="Segoe UI"/>
              </a:rPr>
              <a:t>Regresó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042415" y="5705855"/>
            <a:ext cx="5907025" cy="0"/>
          </a:xfrm>
          <a:prstGeom prst="line">
            <a:avLst/>
          </a:prstGeom>
          <a:ln w="12700">
            <a:solidFill>
              <a:srgbClr val="FFFFFF">
                <a:alpha val="14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1010412" y="5673851"/>
            <a:ext cx="64008" cy="64008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68095" y="5815583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08:00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963924" y="5673851"/>
            <a:ext cx="64008" cy="64008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721608" y="5815583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10:00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917436" y="5673851"/>
            <a:ext cx="64008" cy="64008"/>
          </a:xfrm>
          <a:prstGeom prst="roundRect">
            <a:avLst>
              <a:gd name="adj" fmla="val 50000"/>
            </a:avLst>
          </a:prstGeom>
          <a:solidFill>
            <a:srgbClr val="9FB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675120" y="5815583"/>
            <a:ext cx="6400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12:00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759647" y="5664707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887663" y="5628131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FBBF24"/>
                </a:solidFill>
                <a:latin typeface="Consolas"/>
              </a:rPr>
              <a:t>ahora · 6 min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07808" y="2084831"/>
            <a:ext cx="3913632" cy="1234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ADC2"/>
                </a:solidFill>
                <a:latin typeface="Segoe UI"/>
              </a:rPr>
              <a:t>El permiso deja de ser una interrupción sin registro. La tarjeta marca la salida y el regreso, y el panel avisa cuando alguien se demora más de lo permitido.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607808" y="3511296"/>
            <a:ext cx="68580" cy="685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7808976" y="3429000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A8ADC2"/>
                </a:solidFill>
                <a:latin typeface="Segoe UI"/>
              </a:rPr>
              <a:t>Cupos por turno para evitar aglomeraciones.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607808" y="3922776"/>
            <a:ext cx="68580" cy="685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808976" y="3840480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A8ADC2"/>
                </a:solidFill>
                <a:latin typeface="Segoe UI"/>
              </a:rPr>
              <a:t>Alerta a inspectoría si se excede el tiempo.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607808" y="4334256"/>
            <a:ext cx="68580" cy="685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7808976" y="4251960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A8ADC2"/>
                </a:solidFill>
                <a:latin typeface="Segoe UI"/>
              </a:rPr>
              <a:t>Historial por estudiante y por curso.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607808" y="4745736"/>
            <a:ext cx="68580" cy="685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7808976" y="4663440"/>
            <a:ext cx="3685032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A8ADC2"/>
                </a:solidFill>
                <a:latin typeface="Segoe UI"/>
              </a:rPr>
              <a:t>El resto de los estudiantes no ve estos datos.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607808" y="5504688"/>
            <a:ext cx="2606040" cy="274320"/>
          </a:xfrm>
          <a:prstGeom prst="roundRect">
            <a:avLst>
              <a:gd name="adj" fmla="val 50000"/>
            </a:avLst>
          </a:prstGeom>
          <a:solidFill>
            <a:srgbClr val="FBBF24">
              <a:alpha val="16000"/>
            </a:srgbClr>
          </a:solidFill>
          <a:ln w="11430">
            <a:solidFill>
              <a:srgbClr val="FBBF24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70">
                <a:solidFill>
                  <a:srgbClr val="FBBF24"/>
                </a:solidFill>
                <a:latin typeface="Segoe UI"/>
              </a:rPr>
              <a:t>CONCEPTO DE INTERFAZ · EN DESARROLLO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08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MÓDULO CONVIVENCIA · 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La ficha del estudiante,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por fin completa</a:t>
            </a:r>
            <a:r>
              <a:rPr sz="3300" b="1" i="0">
                <a:solidFill>
                  <a:srgbClr val="F4F4F8"/>
                </a:solidFill>
                <a:latin typeface="Segoe UI Semibol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Una anotación toma segundos: tipo, categoría y contexto. Queda asociada al estudiante, al curso, a la hora y a quien la registró.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58368" y="2103120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A8ADC2"/>
                </a:solidFill>
                <a:latin typeface="Segoe UI"/>
              </a:rPr>
              <a:t>Lo positivo también se registra y se comunica. Dirección ve el patrón, no solo el hecho aislado.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907792"/>
            <a:ext cx="4526280" cy="120700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02B22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6EE7B7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" y="3026664"/>
            <a:ext cx="3108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E7B7"/>
                </a:solidFill>
                <a:latin typeface="Consolas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5" y="3017520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6EE7B7"/>
                </a:solidFill>
                <a:latin typeface="Segoe UI Semibold"/>
              </a:rPr>
              <a:t>Positivas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25295" y="3310128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8ADC2"/>
                </a:solidFill>
                <a:latin typeface="Segoe UI"/>
              </a:rPr>
              <a:t>Liderazgo, ayuda entre pares, esfuerzo, participación destacada.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42816"/>
            <a:ext cx="4526280" cy="1207008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2B141A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FB7185">
                <a:alpha val="2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7824" y="4361688"/>
            <a:ext cx="310896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B7185"/>
                </a:solidFill>
                <a:latin typeface="Consolas"/>
              </a:rPr>
              <a:t>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5" y="4352544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FB7185"/>
                </a:solidFill>
                <a:latin typeface="Segoe UI Semibold"/>
              </a:rPr>
              <a:t>Negativas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25295" y="4645152"/>
            <a:ext cx="361188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8ADC2"/>
                </a:solidFill>
                <a:latin typeface="Segoe UI"/>
              </a:rPr>
              <a:t>Convivencia, atrasos reiterados, incumplimientos del reglamento.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632704"/>
            <a:ext cx="45262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70">
                <a:solidFill>
                  <a:srgbClr val="9FB3E8"/>
                </a:solidFill>
                <a:latin typeface="Consolas"/>
              </a:rPr>
              <a:t>REGISTRAR  →  NOTIFICAR  →  ACOMPAÑAR  →  REPORTAR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13832" y="1993392"/>
            <a:ext cx="6089904" cy="4224528"/>
          </a:xfrm>
          <a:prstGeom prst="roundRect">
            <a:avLst>
              <a:gd name="adj" fmla="val 4000"/>
            </a:avLst>
          </a:prstGeom>
          <a:solidFill>
            <a:srgbClr val="000000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5440680" y="1901952"/>
            <a:ext cx="6089904" cy="4224528"/>
          </a:xfrm>
          <a:prstGeom prst="roundRect">
            <a:avLst>
              <a:gd name="adj" fmla="val 4000"/>
            </a:avLst>
          </a:prstGeom>
          <a:solidFill>
            <a:srgbClr val="0B0B14"/>
          </a:solidFill>
          <a:ln w="12700">
            <a:solidFill>
              <a:srgbClr val="FFFFF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5440680" y="1901952"/>
            <a:ext cx="6089904" cy="420624"/>
          </a:xfrm>
          <a:prstGeom prst="roundRect">
            <a:avLst>
              <a:gd name="adj" fmla="val 4000"/>
            </a:avLst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605272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7185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5742432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FBBF24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5879592" y="2057400"/>
            <a:ext cx="82296" cy="82296"/>
          </a:xfrm>
          <a:prstGeom prst="roundRect">
            <a:avLst>
              <a:gd name="adj" fmla="val 50000"/>
            </a:avLst>
          </a:prstGeom>
          <a:solidFill>
            <a:srgbClr val="6EE7B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44184" y="2011680"/>
            <a:ext cx="4352544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 spc="40">
                <a:solidFill>
                  <a:srgbClr val="7C8198"/>
                </a:solidFill>
                <a:latin typeface="Consolas"/>
              </a:rPr>
              <a:t>PANEL VIBEMATCH  /  FICHA DEL ESTUDIANTE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15015" y="1984248"/>
            <a:ext cx="932688" cy="237744"/>
          </a:xfrm>
          <a:prstGeom prst="roundRect">
            <a:avLst>
              <a:gd name="adj" fmla="val 50000"/>
            </a:avLst>
          </a:prstGeom>
          <a:solidFill>
            <a:srgbClr val="9FB3E8">
              <a:alpha val="16000"/>
            </a:srgbClr>
          </a:solidFill>
          <a:ln w="11430">
            <a:solidFill>
              <a:srgbClr val="9FB3E8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60">
                <a:solidFill>
                  <a:srgbClr val="9FB3E8"/>
                </a:solidFill>
                <a:latin typeface="Segoe UI"/>
              </a:rPr>
              <a:t>1° MEDIO B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40680" y="2322576"/>
            <a:ext cx="6089904" cy="0"/>
          </a:xfrm>
          <a:prstGeom prst="line">
            <a:avLst/>
          </a:prstGeom>
          <a:ln w="7620">
            <a:solidFill>
              <a:srgbClr val="FFFFFF">
                <a:alpha val="1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715000" y="2523744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6D7ED3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715000" y="25237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FB3E8"/>
                </a:solidFill>
                <a:latin typeface="Segoe UI"/>
              </a:rPr>
              <a:t>CR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2523744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4F4F8"/>
                </a:solidFill>
                <a:latin typeface="Segoe UI Semibold"/>
              </a:rPr>
              <a:t>Camila Rojas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2807208"/>
            <a:ext cx="3840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198"/>
                </a:solidFill>
                <a:latin typeface="Consolas"/>
              </a:rPr>
              <a:t>1° Medio B  ·  Tarjeta VM-G0042  ·  Perfil activo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13263" y="2596896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6D7ED3">
              <a:alpha val="16000"/>
            </a:srgbClr>
          </a:solidFill>
          <a:ln w="11430">
            <a:solidFill>
              <a:srgbClr val="6D7ED3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20" b="1" i="0" spc="60">
                <a:solidFill>
                  <a:srgbClr val="9FB3E8"/>
                </a:solidFill>
                <a:latin typeface="Segoe UI"/>
              </a:rPr>
              <a:t>3 REGISTROS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715000" y="3236976"/>
            <a:ext cx="5541263" cy="0"/>
          </a:xfrm>
          <a:prstGeom prst="line">
            <a:avLst/>
          </a:prstGeom>
          <a:ln w="762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715000" y="3328416"/>
            <a:ext cx="5541264" cy="731520"/>
          </a:xfrm>
          <a:prstGeom prst="roundRect">
            <a:avLst>
              <a:gd name="adj" fmla="val 10000"/>
            </a:avLst>
          </a:prstGeom>
          <a:solidFill>
            <a:srgbClr val="6EE7B7">
              <a:alpha val="6000"/>
            </a:srgbClr>
          </a:solidFill>
          <a:ln w="8890">
            <a:solidFill>
              <a:srgbClr val="6EE7B7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824728" y="3474720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E7B7"/>
                </a:solidFill>
                <a:latin typeface="Consolas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8776" y="3438144"/>
            <a:ext cx="4251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4F4F8"/>
                </a:solidFill>
                <a:latin typeface="Segoe UI"/>
              </a:rPr>
              <a:t>Ayudó a un compañero en el laboratorio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8776" y="3712464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EE7B7"/>
                </a:solidFill>
                <a:latin typeface="Consolas"/>
              </a:rPr>
              <a:t>Positiva · Colaboración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3712464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C8198"/>
                </a:solidFill>
                <a:latin typeface="Consolas"/>
              </a:rPr>
              <a:t>10:18  ·  Prof. Rojas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0" y="4187952"/>
            <a:ext cx="5541264" cy="731520"/>
          </a:xfrm>
          <a:prstGeom prst="roundRect">
            <a:avLst>
              <a:gd name="adj" fmla="val 10000"/>
            </a:avLst>
          </a:prstGeom>
          <a:solidFill>
            <a:srgbClr val="FB7185">
              <a:alpha val="6000"/>
            </a:srgbClr>
          </a:solidFill>
          <a:ln w="8890">
            <a:solidFill>
              <a:srgbClr val="FB7185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824728" y="4334256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B7185"/>
                </a:solidFill>
                <a:latin typeface="Consolas"/>
              </a:rPr>
              <a:t>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8776" y="4297680"/>
            <a:ext cx="4251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4F4F8"/>
                </a:solidFill>
                <a:latin typeface="Segoe UI"/>
              </a:rPr>
              <a:t>Llegó 12 minutos tarde a la primera hora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08776" y="4572000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FB7185"/>
                </a:solidFill>
                <a:latin typeface="Consolas"/>
              </a:rPr>
              <a:t>Negativa · Atraso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45752" y="4572000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C8198"/>
                </a:solidFill>
                <a:latin typeface="Consolas"/>
              </a:rPr>
              <a:t>08:12  ·  Inspectoría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715000" y="5047488"/>
            <a:ext cx="5541264" cy="731520"/>
          </a:xfrm>
          <a:prstGeom prst="roundRect">
            <a:avLst>
              <a:gd name="adj" fmla="val 10000"/>
            </a:avLst>
          </a:prstGeom>
          <a:solidFill>
            <a:srgbClr val="6EE7B7">
              <a:alpha val="6000"/>
            </a:srgbClr>
          </a:solidFill>
          <a:ln w="8890">
            <a:solidFill>
              <a:srgbClr val="6EE7B7">
                <a:alpha val="1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824728" y="5193792"/>
            <a:ext cx="31089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6EE7B7"/>
                </a:solidFill>
                <a:latin typeface="Consolas"/>
              </a:rPr>
              <a:t>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5157216"/>
            <a:ext cx="425196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4F4F8"/>
                </a:solidFill>
                <a:latin typeface="Segoe UI"/>
              </a:rPr>
              <a:t>Participación destacada en Lenguaje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5431536"/>
            <a:ext cx="246888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6EE7B7"/>
                </a:solidFill>
                <a:latin typeface="Consolas"/>
              </a:rPr>
              <a:t>Positiva · Participación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445752" y="5431536"/>
            <a:ext cx="1664208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7C8198"/>
                </a:solidFill>
                <a:latin typeface="Consolas"/>
              </a:rPr>
              <a:t>11:05  ·  Prof. Díaz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15000" y="5833872"/>
            <a:ext cx="554126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C8198"/>
                </a:solidFill>
                <a:latin typeface="Consolas"/>
              </a:rPr>
              <a:t>Vista de inspectoría y profesor jefe  ·  el estudiante ve su propio historial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09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PANEL DEL COLEGIO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Todo el colegio en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un solo tablero</a:t>
            </a:r>
            <a:r>
              <a:rPr sz="3300" b="1" i="0">
                <a:solidFill>
                  <a:srgbClr val="F4F4F8"/>
                </a:solidFill>
                <a:latin typeface="Segoe UI Semibol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Dirección, inspectoría y profesores jefes trabajan sobre los mismos datos, con permisos por rol.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19" y="1901952"/>
            <a:ext cx="10874959" cy="4480560"/>
          </a:xfrm>
          <a:prstGeom prst="roundRect">
            <a:avLst>
              <a:gd name="adj" fmla="val 3000"/>
            </a:avLst>
          </a:prstGeom>
          <a:solidFill>
            <a:srgbClr val="000000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658368" y="1810512"/>
            <a:ext cx="10874959" cy="4480560"/>
          </a:xfrm>
          <a:prstGeom prst="roundRect">
            <a:avLst>
              <a:gd name="adj" fmla="val 3000"/>
            </a:avLst>
          </a:prstGeom>
          <a:solidFill>
            <a:srgbClr val="0B0B14"/>
          </a:solidFill>
          <a:ln w="12700">
            <a:solidFill>
              <a:srgbClr val="FFFFFF">
                <a:alpha val="1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658368" y="1810512"/>
            <a:ext cx="1755648" cy="4480560"/>
          </a:xfrm>
          <a:prstGeom prst="roundRect">
            <a:avLst>
              <a:gd name="adj" fmla="val 3000"/>
            </a:avLst>
          </a:prstGeom>
          <a:solidFill>
            <a:srgbClr val="FFFFFF">
              <a:alpha val="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isotip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" y="2011680"/>
            <a:ext cx="310896" cy="1855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43584" y="2066543"/>
            <a:ext cx="10058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 spc="80">
                <a:solidFill>
                  <a:srgbClr val="F4F4F8"/>
                </a:solidFill>
                <a:latin typeface="Consolas"/>
              </a:rPr>
              <a:t>VIBEMATCH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" y="2542032"/>
            <a:ext cx="1463040" cy="329184"/>
          </a:xfrm>
          <a:prstGeom prst="roundRect">
            <a:avLst>
              <a:gd name="adj" fmla="val 20000"/>
            </a:avLst>
          </a:prstGeom>
          <a:solidFill>
            <a:srgbClr val="6D7ED3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259689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F4F4F8"/>
                </a:solidFill>
                <a:latin typeface="Segoe UI"/>
              </a:rPr>
              <a:t>Resumen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035808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C8198"/>
                </a:solidFill>
                <a:latin typeface="Segoe UI"/>
              </a:rPr>
              <a:t>Asistencia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" y="3474720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C8198"/>
                </a:solidFill>
                <a:latin typeface="Segoe UI"/>
              </a:rPr>
              <a:t>Permisos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913631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C8198"/>
                </a:solidFill>
                <a:latin typeface="Segoe UI"/>
              </a:rPr>
              <a:t>Anotaciones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52544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C8198"/>
                </a:solidFill>
                <a:latin typeface="Segoe UI"/>
              </a:rPr>
              <a:t>Cursos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791456"/>
            <a:ext cx="1280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7C8198"/>
                </a:solidFill>
                <a:latin typeface="Segoe UI"/>
              </a:rPr>
              <a:t>Reportes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" y="5907024"/>
            <a:ext cx="1371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6EE7B7"/>
                </a:solidFill>
                <a:latin typeface="Consolas"/>
              </a:rPr>
              <a:t>●  Sistema activo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2029967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8"/>
                </a:solidFill>
                <a:latin typeface="Segoe UI Semibold"/>
              </a:rPr>
              <a:t>Resumen del día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322576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198"/>
                </a:solidFill>
                <a:latin typeface="Consolas"/>
              </a:rPr>
              <a:t>Martes 22 de octubre  ·  Colegio Superior del Maipo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66175" y="2084831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6D7ED3">
              <a:alpha val="16000"/>
            </a:srgbClr>
          </a:solidFill>
          <a:ln w="11430">
            <a:solidFill>
              <a:srgbClr val="6D7ED3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680" b="1" i="0" spc="50">
                <a:solidFill>
                  <a:srgbClr val="9FB3E8"/>
                </a:solidFill>
                <a:latin typeface="Segoe UI"/>
              </a:rPr>
              <a:t>EXPORTAR REPORTE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96896" y="2688336"/>
            <a:ext cx="2014651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2743200" y="2798064"/>
            <a:ext cx="174033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6EE7B7"/>
                </a:solidFill>
                <a:latin typeface="Consolas"/>
              </a:rPr>
              <a:t>94%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191256"/>
            <a:ext cx="174033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Segoe UI"/>
              </a:rPr>
              <a:t>Asistencia general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401568"/>
            <a:ext cx="174033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Consolas"/>
              </a:rPr>
              <a:t>+1,2 pts vs. ayer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21275" y="2688336"/>
            <a:ext cx="2014651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67579" y="2798064"/>
            <a:ext cx="174033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BF24"/>
                </a:solidFill>
                <a:latin typeface="Consolas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7579" y="3191256"/>
            <a:ext cx="174033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Segoe UI"/>
              </a:rPr>
              <a:t>Permisos activos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67579" y="3401568"/>
            <a:ext cx="174033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Consolas"/>
              </a:rPr>
              <a:t>1 excedido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45655" y="2688336"/>
            <a:ext cx="2014651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91959" y="2798064"/>
            <a:ext cx="174033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9FB3E8"/>
                </a:solidFill>
                <a:latin typeface="Consolas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1959" y="3191256"/>
            <a:ext cx="174033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Segoe UI"/>
              </a:rPr>
              <a:t>Anotaciones hoy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1959" y="3401568"/>
            <a:ext cx="174033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Consolas"/>
              </a:rPr>
              <a:t>5 positivas · 2 negativas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0035" y="2688336"/>
            <a:ext cx="2014651" cy="960120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116339" y="2798064"/>
            <a:ext cx="1740331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B7185"/>
                </a:solidFill>
                <a:latin typeface="Consolas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16339" y="3191256"/>
            <a:ext cx="174033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Segoe UI"/>
              </a:rPr>
              <a:t>Alertas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16339" y="3401568"/>
            <a:ext cx="1740331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Consolas"/>
              </a:rPr>
              <a:t>Requieren revisión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596896" y="3840480"/>
            <a:ext cx="5989320" cy="2212848"/>
          </a:xfrm>
          <a:prstGeom prst="roundRect">
            <a:avLst>
              <a:gd name="adj" fmla="val 6000"/>
            </a:avLst>
          </a:prstGeom>
          <a:solidFill>
            <a:srgbClr val="FFFFFF">
              <a:alpha val="3000"/>
            </a:srgbClr>
          </a:solidFill>
          <a:ln w="8890">
            <a:solidFill>
              <a:srgbClr val="FFFFFF">
                <a:alpha val="7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2798064" y="400507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4F4F8"/>
                </a:solidFill>
                <a:latin typeface="Segoe UI"/>
              </a:rPr>
              <a:t>Asistencia por curso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98064" y="4242816"/>
            <a:ext cx="3291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Promedio de la última semana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80944" y="4429353"/>
            <a:ext cx="402336" cy="1185062"/>
          </a:xfrm>
          <a:prstGeom prst="roundRect">
            <a:avLst>
              <a:gd name="adj" fmla="val 12000"/>
            </a:avLst>
          </a:prstGeom>
          <a:solidFill>
            <a:srgbClr val="6D7ED3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2871215" y="570585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7°A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871215" y="4209897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4F4F8"/>
                </a:solidFill>
                <a:latin typeface="Consolas"/>
              </a:rPr>
              <a:t>96%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72483" y="4491075"/>
            <a:ext cx="402336" cy="1123340"/>
          </a:xfrm>
          <a:prstGeom prst="roundRect">
            <a:avLst>
              <a:gd name="adj" fmla="val 12000"/>
            </a:avLst>
          </a:prstGeom>
          <a:solidFill>
            <a:srgbClr val="6D7ED3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762755" y="570585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7°B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762755" y="4271619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4F4F8"/>
                </a:solidFill>
                <a:latin typeface="Consolas"/>
              </a:rPr>
              <a:t>91%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64024" y="4454042"/>
            <a:ext cx="402336" cy="1160373"/>
          </a:xfrm>
          <a:prstGeom prst="roundRect">
            <a:avLst>
              <a:gd name="adj" fmla="val 12000"/>
            </a:avLst>
          </a:prstGeom>
          <a:solidFill>
            <a:srgbClr val="6D7ED3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4654296" y="570585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8°A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54296" y="423458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4F4F8"/>
                </a:solidFill>
                <a:latin typeface="Consolas"/>
              </a:rPr>
              <a:t>94%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55564" y="4528108"/>
            <a:ext cx="402336" cy="1086307"/>
          </a:xfrm>
          <a:prstGeom prst="roundRect">
            <a:avLst>
              <a:gd name="adj" fmla="val 12000"/>
            </a:avLst>
          </a:prstGeom>
          <a:solidFill>
            <a:srgbClr val="6D7ED3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5545836" y="570585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8°B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545836" y="4308652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4F4F8"/>
                </a:solidFill>
                <a:latin typeface="Consolas"/>
              </a:rPr>
              <a:t>88%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47104" y="4417009"/>
            <a:ext cx="402336" cy="1197406"/>
          </a:xfrm>
          <a:prstGeom prst="roundRect">
            <a:avLst>
              <a:gd name="adj" fmla="val 12000"/>
            </a:avLst>
          </a:prstGeom>
          <a:solidFill>
            <a:srgbClr val="6D7E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6437376" y="570585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1°A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7376" y="4197553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4F4F8"/>
                </a:solidFill>
                <a:latin typeface="Consolas"/>
              </a:rPr>
              <a:t>97%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438644" y="4466386"/>
            <a:ext cx="402336" cy="1148029"/>
          </a:xfrm>
          <a:prstGeom prst="roundRect">
            <a:avLst>
              <a:gd name="adj" fmla="val 12000"/>
            </a:avLst>
          </a:prstGeom>
          <a:solidFill>
            <a:srgbClr val="6D7ED3">
              <a:alpha val="6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328916" y="5705856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1°B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28916" y="4246930"/>
            <a:ext cx="62179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F4F4F8"/>
                </a:solidFill>
                <a:latin typeface="Consolas"/>
              </a:rPr>
              <a:t>93%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741663" y="3840480"/>
            <a:ext cx="2535631" cy="2212848"/>
          </a:xfrm>
          <a:prstGeom prst="roundRect">
            <a:avLst>
              <a:gd name="adj" fmla="val 6000"/>
            </a:avLst>
          </a:prstGeom>
          <a:solidFill>
            <a:srgbClr val="FFFFFF">
              <a:alpha val="3000"/>
            </a:srgbClr>
          </a:solidFill>
          <a:ln w="8890">
            <a:solidFill>
              <a:srgbClr val="FFFFFF">
                <a:alpha val="7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8924543" y="4005072"/>
            <a:ext cx="20116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4F4F8"/>
                </a:solidFill>
                <a:latin typeface="Segoe UI Semibold"/>
              </a:rPr>
              <a:t>Alertas recientes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924543" y="4389120"/>
            <a:ext cx="54864" cy="329184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9089136" y="434340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C8198"/>
                </a:solidFill>
                <a:latin typeface="Consolas"/>
              </a:rPr>
              <a:t>11:02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89136" y="4489704"/>
            <a:ext cx="2032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4F8"/>
                </a:solidFill>
                <a:latin typeface="Segoe UI"/>
              </a:rPr>
              <a:t>Permiso excedido · 1° Medio 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89136" y="4663440"/>
            <a:ext cx="2032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Segoe UI"/>
              </a:rPr>
              <a:t>Matías S. lleva 7 min fuera.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924543" y="4937759"/>
            <a:ext cx="54864" cy="329184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089136" y="489204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C8198"/>
                </a:solidFill>
                <a:latin typeface="Consolas"/>
              </a:rPr>
              <a:t>10:45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89136" y="5038344"/>
            <a:ext cx="2032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4F8"/>
                </a:solidFill>
                <a:latin typeface="Segoe UI"/>
              </a:rPr>
              <a:t>3 atrasos en 2° Medio A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89136" y="5212079"/>
            <a:ext cx="2032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Segoe UI"/>
              </a:rPr>
              <a:t>Patrón repetido esta semana.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924543" y="5486400"/>
            <a:ext cx="54864" cy="329184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9089136" y="5440680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40" b="0" i="0">
                <a:solidFill>
                  <a:srgbClr val="7C8198"/>
                </a:solidFill>
                <a:latin typeface="Consolas"/>
              </a:rPr>
              <a:t>09:58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89136" y="5586984"/>
            <a:ext cx="2032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F4F4F8"/>
                </a:solidFill>
                <a:latin typeface="Segoe UI"/>
              </a:rPr>
              <a:t>Anotación positiva · 8° 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89136" y="5760720"/>
            <a:ext cx="2032711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C8198"/>
                </a:solidFill>
                <a:latin typeface="Segoe UI"/>
              </a:rPr>
              <a:t>Trabajo colaborativo destacado.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" y="6400800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90" b="0" i="0">
                <a:solidFill>
                  <a:srgbClr val="7C8198"/>
                </a:solidFill>
                <a:latin typeface="Consolas"/>
              </a:rPr>
              <a:t>Vista de dirección e inspectoría  ·  datos agregados  ·  los estudiantes no ven este panel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10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DECISIÓN DE PRODUCTO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Por qué una tarjeta y no otra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La Ley 21.801 cambia el punto de partida: durante la jornada, el celular personal no es una opción.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1883664"/>
            <a:ext cx="2331720" cy="676656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04672" y="1883664"/>
            <a:ext cx="2057400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3017519" y="1883664"/>
            <a:ext cx="2792882" cy="676656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6D7ED3"/>
              </a:gs>
              <a:gs pos="100000">
                <a:srgbClr val="363D73"/>
              </a:gs>
            </a:gsLst>
            <a:lin scaled="0" ang="14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3017519" y="1883664"/>
            <a:ext cx="2792882" cy="676656"/>
          </a:xfrm>
          <a:prstGeom prst="roundRect">
            <a:avLst>
              <a:gd name="adj" fmla="val 50000"/>
            </a:avLst>
          </a:prstGeom>
          <a:solidFill>
            <a:srgbClr val="6D7ED3"/>
          </a:solidFill>
          <a:ln w="11430">
            <a:solidFill>
              <a:srgbClr val="6D7ED3">
                <a:alpha val="32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860" b="1" i="0" spc="80">
                <a:solidFill>
                  <a:srgbClr val="F4F4F8"/>
                </a:solidFill>
                <a:latin typeface="Segoe UI"/>
              </a:rPr>
              <a:t>TARJETA NFC
VIBEMATCH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37834" y="1883664"/>
            <a:ext cx="2847746" cy="676656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84138" y="1883664"/>
            <a:ext cx="257342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60">
                <a:solidFill>
                  <a:srgbClr val="A8ADC2"/>
                </a:solidFill>
                <a:latin typeface="Consolas"/>
              </a:rPr>
              <a:t>APP EN EL CELULAR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5580" y="1883664"/>
            <a:ext cx="2847746" cy="676656"/>
          </a:xfrm>
          <a:prstGeom prst="rect">
            <a:avLst/>
          </a:prstGeom>
          <a:solidFill>
            <a:srgbClr val="FFFFFF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31884" y="1883664"/>
            <a:ext cx="2573426" cy="6766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60">
                <a:solidFill>
                  <a:srgbClr val="A8ADC2"/>
                </a:solidFill>
                <a:latin typeface="Consolas"/>
              </a:rPr>
              <a:t>HUELLA / BIOMETRÍA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560320"/>
            <a:ext cx="10874959" cy="512064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" y="2560320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4F4F8"/>
                </a:solidFill>
                <a:latin typeface="Segoe UI"/>
              </a:rPr>
              <a:t>Ley 21.801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90087" y="2560320"/>
            <a:ext cx="2847746" cy="512064"/>
          </a:xfrm>
          <a:prstGeom prst="rect">
            <a:avLst/>
          </a:prstGeom>
          <a:solidFill>
            <a:srgbClr val="6D7ED3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118103" y="2560320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4135" y="2560320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4F4F8"/>
                </a:solidFill>
                <a:latin typeface="Segoe UI"/>
              </a:rPr>
              <a:t>Sin celular personal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65850" y="2560320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Consolas"/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1882" y="2560320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Celular prohibido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13596" y="2560320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9628" y="2560320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Requiere hardware fijo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3072384"/>
            <a:ext cx="10874959" cy="0"/>
          </a:xfrm>
          <a:prstGeom prst="line">
            <a:avLst/>
          </a:prstGeom>
          <a:ln w="635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04672" y="3072384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4F4F8"/>
                </a:solidFill>
                <a:latin typeface="Segoe UI"/>
              </a:rPr>
              <a:t>Velocidad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90087" y="3072384"/>
            <a:ext cx="2847746" cy="512064"/>
          </a:xfrm>
          <a:prstGeom prst="rect">
            <a:avLst/>
          </a:prstGeom>
          <a:solidFill>
            <a:srgbClr val="6D7ED3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118103" y="3072384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4135" y="3072384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4F4F8"/>
                </a:solidFill>
                <a:latin typeface="Segoe UI"/>
              </a:rPr>
              <a:t>Menos de 1 segundo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65850" y="3072384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21882" y="3072384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Abrir y desbloquear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13596" y="3072384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9628" y="3072384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2–5 segundos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8368" y="3584448"/>
            <a:ext cx="10874959" cy="0"/>
          </a:xfrm>
          <a:prstGeom prst="line">
            <a:avLst/>
          </a:prstGeom>
          <a:ln w="635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658368" y="3584448"/>
            <a:ext cx="10874959" cy="512064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04672" y="3584448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4F4F8"/>
                </a:solidFill>
                <a:latin typeface="Segoe UI"/>
              </a:rPr>
              <a:t>Batería y pantalla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90087" y="3584448"/>
            <a:ext cx="2847746" cy="512064"/>
          </a:xfrm>
          <a:prstGeom prst="rect">
            <a:avLst/>
          </a:prstGeom>
          <a:solidFill>
            <a:srgbClr val="6D7ED3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118103" y="3584448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4135" y="3584448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4F4F8"/>
                </a:solidFill>
                <a:latin typeface="Segoe UI"/>
              </a:rPr>
              <a:t>No necesita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65850" y="3584448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Consolas"/>
              </a:rPr>
              <a:t>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21882" y="3584448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Depende del equipo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13596" y="3584448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9628" y="3584448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No necesita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58368" y="4096512"/>
            <a:ext cx="10874959" cy="0"/>
          </a:xfrm>
          <a:prstGeom prst="line">
            <a:avLst/>
          </a:prstGeom>
          <a:ln w="635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04672" y="4096512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4F4F8"/>
                </a:solidFill>
                <a:latin typeface="Segoe UI"/>
              </a:rPr>
              <a:t>Datos personales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990087" y="4096512"/>
            <a:ext cx="2847746" cy="512064"/>
          </a:xfrm>
          <a:prstGeom prst="rect">
            <a:avLst/>
          </a:prstGeom>
          <a:solidFill>
            <a:srgbClr val="6D7ED3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3118103" y="4096512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74135" y="4096512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4F4F8"/>
                </a:solidFill>
                <a:latin typeface="Segoe UI"/>
              </a:rPr>
              <a:t>Token sin PII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65850" y="4096512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21882" y="4096512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Cuenta y permisos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13596" y="4096512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Consolas"/>
              </a:rPr>
              <a:t>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69628" y="4096512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Huella biométrica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58368" y="4608576"/>
            <a:ext cx="10874959" cy="0"/>
          </a:xfrm>
          <a:prstGeom prst="line">
            <a:avLst/>
          </a:prstGeom>
          <a:ln w="635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658368" y="4608576"/>
            <a:ext cx="10874959" cy="512064"/>
          </a:xfrm>
          <a:prstGeom prst="rect">
            <a:avLst/>
          </a:prstGeom>
          <a:solidFill>
            <a:srgbClr val="FFFFFF">
              <a:alpha val="25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04672" y="4608576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4F4F8"/>
                </a:solidFill>
                <a:latin typeface="Segoe UI"/>
              </a:rPr>
              <a:t>Costo por estudiante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990087" y="4608576"/>
            <a:ext cx="2847746" cy="512064"/>
          </a:xfrm>
          <a:prstGeom prst="rect">
            <a:avLst/>
          </a:prstGeom>
          <a:solidFill>
            <a:srgbClr val="6D7ED3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3118103" y="4608576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74135" y="4608576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4F4F8"/>
                </a:solidFill>
                <a:latin typeface="Segoe UI"/>
              </a:rPr>
              <a:t>Tarjeta reutilizada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65850" y="4608576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21882" y="4608576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Equipo o plan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813596" y="4608576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7185"/>
                </a:solidFill>
                <a:latin typeface="Consolas"/>
              </a:rPr>
              <a:t>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69628" y="4608576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Lector dedicado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658368" y="5120640"/>
            <a:ext cx="10874959" cy="0"/>
          </a:xfrm>
          <a:prstGeom prst="line">
            <a:avLst/>
          </a:prstGeom>
          <a:ln w="635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804672" y="5120640"/>
            <a:ext cx="21031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>
                <a:solidFill>
                  <a:srgbClr val="F4F4F8"/>
                </a:solidFill>
                <a:latin typeface="Segoe UI"/>
              </a:rPr>
              <a:t>Accesibilidad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990087" y="5120640"/>
            <a:ext cx="2847746" cy="512064"/>
          </a:xfrm>
          <a:prstGeom prst="rect">
            <a:avLst/>
          </a:prstGeom>
          <a:solidFill>
            <a:srgbClr val="6D7ED3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3118103" y="5120640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E7B7"/>
                </a:solidFill>
                <a:latin typeface="Consolas"/>
              </a:rPr>
              <a:t>✓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74135" y="5120640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F4F4F8"/>
                </a:solidFill>
                <a:latin typeface="Segoe UI"/>
              </a:rPr>
              <a:t>Un gesto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65850" y="5120640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21882" y="5120640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Requiere alfabetización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813596" y="5120640"/>
            <a:ext cx="274320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BBF24"/>
                </a:solidFill>
                <a:latin typeface="Consolas"/>
              </a:rPr>
              <a:t>~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69628" y="5120640"/>
            <a:ext cx="2372258" cy="51206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60" b="0" i="0">
                <a:solidFill>
                  <a:srgbClr val="A8ADC2"/>
                </a:solidFill>
                <a:latin typeface="Segoe UI"/>
              </a:rPr>
              <a:t>Requiere enrolamiento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58368" y="5632704"/>
            <a:ext cx="10874959" cy="0"/>
          </a:xfrm>
          <a:prstGeom prst="line">
            <a:avLst/>
          </a:prstGeom>
          <a:ln w="6350">
            <a:solidFill>
              <a:srgbClr val="FFFFFF">
                <a:alpha val="7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658368" y="5833872"/>
            <a:ext cx="1087495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A8ADC2"/>
                </a:solidFill>
                <a:latin typeface="Segoe UI"/>
              </a:rPr>
              <a:t>El </a:t>
            </a:r>
            <a:r>
              <a:rPr sz="960" b="1" i="0">
                <a:solidFill>
                  <a:srgbClr val="A8ADC2"/>
                </a:solidFill>
                <a:latin typeface="Segoe UI"/>
              </a:rPr>
              <a:t>QR de respaldo</a:t>
            </a:r>
            <a:r>
              <a:rPr sz="960" b="0" i="0">
                <a:solidFill>
                  <a:srgbClr val="A8ADC2"/>
                </a:solidFill>
                <a:latin typeface="Segoe UI"/>
              </a:rPr>
              <a:t> impreso en la tarjeta cubre lectores dañados o tarjetas sin NFC. La app en el celular sigue existiendo, pero solo como canal opcional fuera de la jornada.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11 / 17</a:t>
            </a:r>
          </a:p>
        </p:txBody>
      </p:sp>
      <p:pic>
        <p:nvPicPr>
          <p:cNvPr id="5" name="Picture 4" descr="glow-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3474720"/>
            <a:ext cx="5486400" cy="5486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PRIVACIDAD Y SEGURIDAD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Datos mínimos.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Control del colegio.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La tarjeta es una llave, no un expediente. El colegio define qué se guarda, quién lo ve y por cuánto tiempo.</a:t>
            </a:r>
          </a:p>
        </p:txBody>
      </p:sp>
      <p:pic>
        <p:nvPicPr>
          <p:cNvPr id="9" name="Picture 8" descr="imagotip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58368" y="1938528"/>
            <a:ext cx="5349240" cy="1517904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96112" y="21579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A7F8"/>
                </a:solidFill>
                <a:latin typeface="Consola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13055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Token, no identidad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2505456"/>
            <a:ext cx="4251960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La tarjeta guarda un token de 256 bits. El servidor solo conserva su hash SHA-256, nunca el token en claro.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938528"/>
            <a:ext cx="5349240" cy="1517904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19088" y="2157984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A7F8"/>
                </a:solidFill>
                <a:latin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2130552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Sesión con caducidad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2505456"/>
            <a:ext cx="4251960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Cookie HttpOnly firmada con HMAC. Expira y se revoca al instante si la tarjeta se pierde o se reemplaza.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639312"/>
            <a:ext cx="5349240" cy="1517904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6112" y="38587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A7F8"/>
                </a:solidFill>
                <a:latin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8176" y="3831336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Roles y trazabilidad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08176" y="4206240"/>
            <a:ext cx="4251960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Estudiante, docente, inspectoría y dirección ven solo lo que necesitan. Cada acción queda registrada.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81344" y="3639312"/>
            <a:ext cx="5349240" cy="1517904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419088" y="3858768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8FA7F8"/>
                </a:solidFill>
                <a:latin typeface="Consola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31152" y="3831336"/>
            <a:ext cx="42976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Marco legal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31152" y="4206240"/>
            <a:ext cx="4251960" cy="8046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Diseñado para la Ley 21.801 (sin celular personal) y la Ley 21.719 (protección de datos personales).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04688"/>
            <a:ext cx="10874959" cy="502920"/>
          </a:xfrm>
          <a:prstGeom prst="roundRect">
            <a:avLst>
              <a:gd name="adj" fmla="val 8000"/>
            </a:avLst>
          </a:prstGeom>
          <a:solidFill>
            <a:srgbClr val="6D7ED3">
              <a:alpha val="9000"/>
            </a:srgbClr>
          </a:solidFill>
          <a:ln w="10160">
            <a:solidFill>
              <a:srgbClr val="6D7ED3">
                <a:alpha val="1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5504688"/>
            <a:ext cx="10874959" cy="5029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FB3E8"/>
                </a:solidFill>
                <a:latin typeface="Segoe UI"/>
              </a:rPr>
              <a:t>“La tarjeta no dice quién eres: solo abre tu registro.”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089904"/>
            <a:ext cx="10874959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7C8198"/>
                </a:solidFill>
                <a:latin typeface="Consolas"/>
              </a:rPr>
              <a:t>Sin GPS, sin cámara y sin biometría.  ·  Retención y consentimiento se acuerdan con el colegio.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12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IMPACTO ESPERADO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Menos interrupciones.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Más clase.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No se trata de agregar una herramienta más, sino de quitar tareas repetitivas del día escolar.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993392"/>
            <a:ext cx="5349240" cy="2084831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B161B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FB7185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13969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 spc="120">
                <a:solidFill>
                  <a:srgbClr val="FB7185"/>
                </a:solidFill>
                <a:latin typeface="Consolas"/>
              </a:rPr>
              <a:t>HOY, SIN VIBEMATCH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500884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B718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487168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Segoe UI"/>
              </a:rPr>
              <a:t>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248716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Listas a mano que cortan el inicio de la clase.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830068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B718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816352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61872" y="2816352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Permisos sin hora, sin cupo y sin responsable.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159252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B718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3145536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Segoe UI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61872" y="3145536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Anotaciones repartidas en cuadernos y planillas.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3488436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FB7185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3474720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B7185"/>
                </a:solidFill>
                <a:latin typeface="Segoe U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3474720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Apoderados que se enteran tarde o nunca.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1344" y="1993392"/>
            <a:ext cx="5349240" cy="2084831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0F2B24"/>
              </a:gs>
              <a:gs pos="100000">
                <a:srgbClr val="10101C"/>
              </a:gs>
            </a:gsLst>
            <a:lin scaled="0" ang="13500000"/>
          </a:gradFill>
          <a:ln w="12700">
            <a:solidFill>
              <a:srgbClr val="6EE7B7">
                <a:alpha val="20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55664" y="2139696"/>
            <a:ext cx="2743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 i="0" spc="120">
                <a:solidFill>
                  <a:srgbClr val="6EE7B7"/>
                </a:solidFill>
                <a:latin typeface="Consolas"/>
              </a:rPr>
              <a:t>CON VIBEMATCH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55664" y="2500884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55664" y="2487168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2487168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Lista en segundos, mientras los estudiantes entran.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55664" y="2830068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455664" y="2816352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4848" y="2816352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Cada permiso con hora de salida y de regreso.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55664" y="3159252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55664" y="3145536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4848" y="3145536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Un historial por estudiante, con contexto.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55664" y="3488436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455664" y="3474720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84848" y="3474720"/>
            <a:ext cx="4425696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A8ADC2"/>
                </a:solidFill>
                <a:latin typeface="Segoe UI"/>
              </a:rPr>
              <a:t>Aviso al apoderado el mismo día.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370832"/>
            <a:ext cx="3493008" cy="118872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96112" y="451713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FA7F8"/>
                </a:solidFill>
                <a:latin typeface="Consolas"/>
              </a:rPr>
              <a:t>~1,5 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6112" y="4983480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4F4F8"/>
                </a:solidFill>
                <a:latin typeface="Consolas"/>
              </a:rPr>
              <a:t>por docente a la semana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2" y="5193792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198"/>
                </a:solidFill>
                <a:latin typeface="Segoe UI"/>
              </a:rPr>
              <a:t>Tiempo que deja de gastarse en listas manuales.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4370832"/>
            <a:ext cx="3493008" cy="118872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581144" y="451713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FA7F8"/>
                </a:solidFill>
                <a:latin typeface="Consolas"/>
              </a:rPr>
              <a:t>100%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81144" y="4983480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4F4F8"/>
                </a:solidFill>
                <a:latin typeface="Consolas"/>
              </a:rPr>
              <a:t>de permisos con registro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81144" y="5193792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198"/>
                </a:solidFill>
                <a:latin typeface="Segoe UI"/>
              </a:rPr>
              <a:t>Quién, cuándo, cuánto y si regresó.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028432" y="4370832"/>
            <a:ext cx="3493008" cy="118872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8266176" y="4517136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8FA7F8"/>
                </a:solidFill>
                <a:latin typeface="Consolas"/>
              </a:rP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66176" y="4983480"/>
            <a:ext cx="29718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>
                <a:solidFill>
                  <a:srgbClr val="F4F4F8"/>
                </a:solidFill>
                <a:latin typeface="Consolas"/>
              </a:rPr>
              <a:t>historial por estudiante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66176" y="5193792"/>
            <a:ext cx="2971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7C8198"/>
                </a:solidFill>
                <a:latin typeface="Segoe UI"/>
              </a:rPr>
              <a:t>Lo positivo y lo negativo en un solo lugar.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" y="5779008"/>
            <a:ext cx="10874959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198"/>
                </a:solidFill>
                <a:latin typeface="Consolas"/>
              </a:rPr>
              <a:t>Estimación: 6 clases al día × 3 minutos por lista × 5 días. El piloto medirá el tiempo real y ajustará el cálculo.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13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PLAN DE IMPLEMENTACIÓN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Piloto en 6 semanas,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con un solo curso.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Empezar pequeño permite medir, corregir y convencer con evidencia antes de escalar al colegio completo.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1115568" y="2542032"/>
            <a:ext cx="8954719" cy="0"/>
          </a:xfrm>
          <a:prstGeom prst="line">
            <a:avLst/>
          </a:prstGeom>
          <a:ln w="12700">
            <a:solidFill>
              <a:srgbClr val="6D7ED3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59536" y="23957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20320">
            <a:solidFill>
              <a:srgbClr val="8FA7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923544" y="2459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8368" y="2798064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9FB3E8"/>
                </a:solidFill>
                <a:latin typeface="Consolas"/>
              </a:rPr>
              <a:t>SEMANA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054096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Diagnóstico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364992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Reunión con dirección e inspectoría, definición del curso y de las reglas de uso.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2736" y="23957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20320">
            <a:solidFill>
              <a:srgbClr val="8FA7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3666744" y="2459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401568" y="2798064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9FB3E8"/>
                </a:solidFill>
                <a:latin typeface="Consolas"/>
              </a:rPr>
              <a:t>SEMANA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3054096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Tarjetas + asistencia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01568" y="3364992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Entrega de tarjetas, Punto Vibe y activación de la lista en vivo.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45936" y="23957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20320">
            <a:solidFill>
              <a:srgbClr val="8FA7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09944" y="2459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44768" y="2798064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9FB3E8"/>
                </a:solidFill>
                <a:latin typeface="Consolas"/>
              </a:rPr>
              <a:t>SEMANA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44768" y="3054096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Baño + anotaciones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44768" y="3364992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Permisos con cupo y registro; anotaciones positivas y negativas.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89136" y="2395728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20320">
            <a:solidFill>
              <a:srgbClr val="8FA7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9153143" y="24597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8FA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887967" y="2798064"/>
            <a:ext cx="2514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 spc="100">
                <a:solidFill>
                  <a:srgbClr val="9FB3E8"/>
                </a:solidFill>
                <a:latin typeface="Consolas"/>
              </a:rPr>
              <a:t>SEMANAS 4–6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7" y="3054096"/>
            <a:ext cx="246888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F4F4F8"/>
                </a:solidFill>
                <a:latin typeface="Segoe UI Semibold"/>
              </a:rPr>
              <a:t>Uso real y medición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7" y="3364992"/>
            <a:ext cx="246888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Operación diaria, ajustes de interfaz y reporte de resultados.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462272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14400" y="4590288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6EE7B7"/>
                </a:solidFill>
                <a:latin typeface="Consolas"/>
              </a:rPr>
              <a:t>EL COLEGIO APORTA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96612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14400" y="4882896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43584" y="4882896"/>
            <a:ext cx="45171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A8ADC2"/>
                </a:solidFill>
                <a:latin typeface="Segoe UI"/>
              </a:rPr>
              <a:t>Un curso y un docente coordinador.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" y="5189220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14400" y="5175504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43584" y="5175504"/>
            <a:ext cx="45171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A8ADC2"/>
                </a:solidFill>
                <a:latin typeface="Segoe UI"/>
              </a:rPr>
              <a:t>PC o tablet institucional + lector NFC.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481828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14400" y="5468112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E7B7"/>
                </a:solidFill>
                <a:latin typeface="Segoe UI"/>
              </a:rPr>
              <a:t>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43584" y="5468112"/>
            <a:ext cx="45171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A8ADC2"/>
                </a:solidFill>
                <a:latin typeface="Segoe UI"/>
              </a:rPr>
              <a:t>Validación con inspectoría y convivencia.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81344" y="4462272"/>
            <a:ext cx="5349240" cy="146304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37376" y="4590288"/>
            <a:ext cx="43891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 spc="120">
                <a:solidFill>
                  <a:srgbClr val="9FB3E8"/>
                </a:solidFill>
                <a:latin typeface="Consolas"/>
              </a:rPr>
              <a:t>VIBEMATCH APORTA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37376" y="4896612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9FB3E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37376" y="4882896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FB3E8"/>
                </a:solidFill>
                <a:latin typeface="Segoe UI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0" y="4882896"/>
            <a:ext cx="45171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A8ADC2"/>
                </a:solidFill>
                <a:latin typeface="Segoe UI"/>
              </a:rPr>
              <a:t>Tarjetas y configuración del curso.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37376" y="5189220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9FB3E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37376" y="5175504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FB3E8"/>
                </a:solidFill>
                <a:latin typeface="Segoe UI"/>
              </a:rPr>
              <a:t>·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0" y="5175504"/>
            <a:ext cx="45171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A8ADC2"/>
                </a:solidFill>
                <a:latin typeface="Segoe UI"/>
              </a:rPr>
              <a:t>Punto Vibe, panel web y soporte.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37376" y="5481828"/>
            <a:ext cx="210312" cy="210312"/>
          </a:xfrm>
          <a:prstGeom prst="roundRect">
            <a:avLst>
              <a:gd name="adj" fmla="val 50000"/>
            </a:avLst>
          </a:prstGeom>
          <a:solidFill>
            <a:srgbClr val="9FB3E8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6437376" y="5468112"/>
            <a:ext cx="210312" cy="23774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FB3E8"/>
                </a:solidFill>
                <a:latin typeface="Segoe UI"/>
              </a:rPr>
              <a:t>·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468112"/>
            <a:ext cx="4517136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A8ADC2"/>
                </a:solidFill>
                <a:latin typeface="Segoe UI"/>
              </a:rPr>
              <a:t>Capacitación y reporte del piloto.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" y="6053328"/>
            <a:ext cx="1087495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198"/>
                </a:solidFill>
                <a:latin typeface="Consolas"/>
              </a:rPr>
              <a:t>Métricas: tiempo de lista, permisos registrados, anotaciones, adopción docente, incidencias y satisfacción.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14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QUÉ RECIBE EL COLEGIO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Un kit listo para </a:t>
            </a:r>
            <a:r>
              <a:rPr sz="3300" b="1" i="0">
                <a:solidFill>
                  <a:srgbClr val="8FA7F8"/>
                </a:solidFill>
                <a:latin typeface="Segoe UI Semibold"/>
              </a:rPr>
              <a:t>usar mañana.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No es solo software: incluye tarjetas, punto de acceso, capacitación y acompañamiento.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993392"/>
            <a:ext cx="562356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5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59536" y="217627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A7F8"/>
                </a:solidFill>
                <a:latin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093976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4F4F8"/>
                </a:solidFill>
                <a:latin typeface="Segoe UI Semibold"/>
              </a:rPr>
              <a:t>Tarjetas NFC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0087" y="2121408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A8ADC2"/>
                </a:solidFill>
                <a:latin typeface="Segoe UI"/>
              </a:rPr>
              <a:t>Reutilizadas, sanitizadas y programadas para cada estudiante.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788920"/>
            <a:ext cx="562356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5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59536" y="297180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A7F8"/>
                </a:solidFill>
                <a:latin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889504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4F4F8"/>
                </a:solidFill>
                <a:latin typeface="Segoe UI Semibold"/>
              </a:rPr>
              <a:t>Punto Vibe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7" y="2916936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A8ADC2"/>
                </a:solidFill>
                <a:latin typeface="Segoe UI"/>
              </a:rPr>
              <a:t>Lector + software en un PC o tablet institucional, en modo kiosco.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584448"/>
            <a:ext cx="562356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5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59536" y="376732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A7F8"/>
                </a:solidFill>
                <a:latin typeface="Consola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685032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4F4F8"/>
                </a:solidFill>
                <a:latin typeface="Segoe UI Semibold"/>
              </a:rPr>
              <a:t>Panel del colegio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90087" y="3712464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A8ADC2"/>
                </a:solidFill>
                <a:latin typeface="Segoe UI"/>
              </a:rPr>
              <a:t>Asistencia, permisos, anotaciones y reportes por rol.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379976"/>
            <a:ext cx="562356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5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59536" y="456285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A7F8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480560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4F4F8"/>
                </a:solidFill>
                <a:latin typeface="Segoe UI Semibold"/>
              </a:rPr>
              <a:t>Capacitación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90087" y="4507992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A8ADC2"/>
                </a:solidFill>
                <a:latin typeface="Segoe UI"/>
              </a:rPr>
              <a:t>Una sesión para docentes, inspectoría y dirección.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175504"/>
            <a:ext cx="5623560" cy="713232"/>
          </a:xfrm>
          <a:prstGeom prst="roundRect">
            <a:avLst>
              <a:gd name="adj" fmla="val 10000"/>
            </a:avLst>
          </a:prstGeom>
          <a:solidFill>
            <a:srgbClr val="FFFFFF">
              <a:alpha val="3500"/>
            </a:srgbClr>
          </a:solidFill>
          <a:ln w="8890">
            <a:solidFill>
              <a:srgbClr val="FFFFFF">
                <a:alpha val="8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59536" y="535838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8FA7F8"/>
                </a:solidFill>
                <a:latin typeface="Consola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5276088"/>
            <a:ext cx="164592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F4F4F8"/>
                </a:solidFill>
                <a:latin typeface="Segoe UI Semibold"/>
              </a:rPr>
              <a:t>Soporte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7" y="5303520"/>
            <a:ext cx="306324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A8ADC2"/>
                </a:solidFill>
                <a:latin typeface="Segoe UI"/>
              </a:rPr>
              <a:t>Reposición de tarjetas y acompañamiento durante el piloto.</a:t>
            </a:r>
          </a:p>
        </p:txBody>
      </p:sp>
      <p:pic>
        <p:nvPicPr>
          <p:cNvPr id="29" name="Picture 28" descr="tarjeta-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1883664"/>
            <a:ext cx="5074920" cy="338328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729984" y="5047488"/>
            <a:ext cx="44805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60">
                <a:solidFill>
                  <a:srgbClr val="9FB3E8"/>
                </a:solidFill>
                <a:latin typeface="Consolas"/>
              </a:rPr>
              <a:t>PHYGITAL PACK  ·  TARJETA + QR DE RESPALDO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47104" y="53949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729984" y="532180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Recolectar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5532120"/>
            <a:ext cx="1371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7C8198"/>
                </a:solidFill>
                <a:latin typeface="Segoe UI"/>
              </a:rPr>
              <a:t>Tarjetas tipo Bip! en desuso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2" y="53949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211312" y="532180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Reprogramar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5532120"/>
            <a:ext cx="1371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7C8198"/>
                </a:solidFill>
                <a:latin typeface="Segoe UI"/>
              </a:rPr>
              <a:t>Sanitizar y grabar token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09760" y="539496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692640" y="5321808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4F4F8"/>
                </a:solidFill>
                <a:latin typeface="Segoe UI"/>
              </a:rPr>
              <a:t>Reutilizar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5532120"/>
            <a:ext cx="13716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7C8198"/>
                </a:solidFill>
                <a:latin typeface="Segoe UI"/>
              </a:rPr>
              <a:t>Menos desecho electrónico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5989320"/>
            <a:ext cx="48463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40" b="0" i="0">
                <a:solidFill>
                  <a:srgbClr val="7C8198"/>
                </a:solidFill>
                <a:latin typeface="Consolas"/>
              </a:rPr>
              <a:t>Packaging kraft, sin plásticos de un solo uso. Economía circular.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15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ESTADO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No partimos de cero.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La base web y el acceso por tarjeta ya funcionan. La extensión escolar se construye sobre esa base.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938528"/>
            <a:ext cx="5349240" cy="315468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103120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20">
                <a:solidFill>
                  <a:srgbClr val="6EE7B7"/>
                </a:solidFill>
                <a:latin typeface="Consolas"/>
              </a:rPr>
              <a:t>HOY · MVP FUNCIONANDO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5054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478024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487168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Web con acceso por tarjeta única.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2999232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71800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43584" y="2980944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Onboarding y perfil persistente.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3493008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3465576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43584" y="3474720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100 tarjetas guest listas para el piloto.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3986783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3959352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968496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PWA instalable en iPhone, Android y Windows.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" y="4480559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6EE7B7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4453128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EE7B7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43584" y="4462272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Identidad de marca aplicada.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1938528"/>
            <a:ext cx="5349240" cy="315468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55664" y="2103120"/>
            <a:ext cx="4480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60" b="1" i="0" spc="120">
                <a:solidFill>
                  <a:srgbClr val="9FB3E8"/>
                </a:solidFill>
                <a:latin typeface="Consolas"/>
              </a:rPr>
              <a:t>DESPUÉS DEL PILOTO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2468880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B3E8"/>
                </a:solidFill>
                <a:latin typeface="Segoe U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59" y="2487168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Asistencia y lista en vivo por curso.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2962656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B3E8"/>
                </a:solidFill>
                <a:latin typeface="Segoe U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59" y="2980944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Permisos al baño con alertas.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3456432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B3E8"/>
                </a:solidFill>
                <a:latin typeface="Segoe U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59" y="3474720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Anotaciones + / − y notificaciones.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55664" y="3950208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B3E8"/>
                </a:solidFill>
                <a:latin typeface="Segoe U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3968496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Panel por roles y reportes exportables.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443984"/>
            <a:ext cx="201168" cy="21945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FB3E8"/>
                </a:solidFill>
                <a:latin typeface="Segoe U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59" y="4462272"/>
            <a:ext cx="4434840" cy="24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A8ADC2"/>
                </a:solidFill>
                <a:latin typeface="Segoe UI"/>
              </a:rPr>
              <a:t>Integración con SIGE y apps nativas.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36576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 spc="120">
                <a:solidFill>
                  <a:srgbClr val="7C8198"/>
                </a:solidFill>
                <a:latin typeface="Consolas"/>
              </a:rPr>
              <a:t>CAMINO DE IMPLEMENTACIÓN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41247" y="5559552"/>
            <a:ext cx="10509200" cy="0"/>
          </a:xfrm>
          <a:prstGeom prst="line">
            <a:avLst/>
          </a:prstGeom>
          <a:ln w="12700">
            <a:solidFill>
              <a:srgbClr val="FFFFFF">
                <a:alpha val="1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41247" y="5559552"/>
            <a:ext cx="3520441" cy="0"/>
          </a:xfrm>
          <a:prstGeom prst="line">
            <a:avLst/>
          </a:prstGeom>
          <a:ln w="25400">
            <a:solidFill>
              <a:srgbClr val="6D7E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77239" y="54955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7ED3"/>
          </a:solidFill>
          <a:ln w="17780">
            <a:solidFill>
              <a:srgbClr val="6D7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338327" y="5705856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Consolas"/>
              </a:rPr>
              <a:t>MVP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8327" y="5888736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funcionando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79" y="54955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D7ED3"/>
          </a:solidFill>
          <a:ln w="17780">
            <a:solidFill>
              <a:srgbClr val="6D7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858768" y="5705856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Consolas"/>
              </a:rPr>
              <a:t>PILOTO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58768" y="5888736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2026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149279" y="5495544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07070D"/>
          </a:solidFill>
          <a:ln w="17780">
            <a:solidFill>
              <a:srgbClr val="6D7E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0710367" y="5705856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F4F4F8"/>
                </a:solidFill>
                <a:latin typeface="Consolas"/>
              </a:rPr>
              <a:t>COLEGIO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10367" y="5888736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7C8198"/>
                </a:solidFill>
                <a:latin typeface="Consolas"/>
              </a:rPr>
              <a:t>escala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glow-bra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-1097280"/>
            <a:ext cx="8046720" cy="8046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" y="731520"/>
            <a:ext cx="36576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40" b="1" i="0" spc="220">
                <a:solidFill>
                  <a:srgbClr val="9FB3E8"/>
                </a:solidFill>
                <a:latin typeface="Consolas"/>
              </a:rPr>
              <a:t>EL PRÓXIMO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7223760" cy="2194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4F4F8"/>
                </a:solidFill>
                <a:latin typeface="Segoe UI Semibold"/>
              </a:rPr>
              <a:t>Que la tarjeta abra algo más que una puerta.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649224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A8ADC2"/>
                </a:solidFill>
                <a:latin typeface="Segoe UI"/>
              </a:rPr>
              <a:t>Que abra la asistencia, el permiso, la anotación y la conversación. Todo con un gesto, sin celular personal y con el colegio a cargo.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36592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43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80">
                <a:solidFill>
                  <a:srgbClr val="F4F4F8"/>
                </a:solidFill>
                <a:latin typeface="Segoe UI"/>
              </a:rPr>
              <a:t>SIN CELULAR PERSONAL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5456" y="4736592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43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80">
                <a:solidFill>
                  <a:srgbClr val="F4F4F8"/>
                </a:solidFill>
                <a:latin typeface="Segoe UI"/>
              </a:rPr>
              <a:t>CON TRAZABILIDAD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5384" y="4736592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FFFFFF">
              <a:alpha val="7000"/>
            </a:srgbClr>
          </a:solidFill>
          <a:ln w="11430">
            <a:solidFill>
              <a:srgbClr val="FFFFFF">
                <a:alpha val="16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0" bIns="0"/>
          <a:lstStyle/>
          <a:p>
            <a:pPr algn="ctr">
              <a:lnSpc>
                <a:spcPct val="95000"/>
              </a:lnSpc>
            </a:pPr>
            <a:r>
              <a:rPr sz="740" b="1" i="0" spc="80">
                <a:solidFill>
                  <a:srgbClr val="F4F4F8"/>
                </a:solidFill>
                <a:latin typeface="Segoe UI"/>
              </a:rPr>
              <a:t>CON EL COLEGIO A CARGO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71500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4F4F8"/>
                </a:solidFill>
                <a:latin typeface="Segoe UI Semibold"/>
              </a:rPr>
              <a:t>Maximo Orellana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98464"/>
            <a:ext cx="603504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C8198"/>
                </a:solidFill>
                <a:latin typeface="Consolas"/>
              </a:rPr>
              <a:t>Colegio Superior del Maipo  ·  Piloto VibeMatch 2026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80" b="0" i="0">
                <a:solidFill>
                  <a:srgbClr val="7C8198"/>
                </a:solidFill>
                <a:latin typeface="Consolas"/>
              </a:rPr>
              <a:t>Proyecto disponible para revisión del colegio</a:t>
            </a:r>
          </a:p>
        </p:txBody>
      </p:sp>
      <p:sp>
        <p:nvSpPr>
          <p:cNvPr id="12" name="Oval 11"/>
          <p:cNvSpPr/>
          <p:nvPr/>
        </p:nvSpPr>
        <p:spPr>
          <a:xfrm>
            <a:off x="8458200" y="2194560"/>
            <a:ext cx="2743200" cy="2743200"/>
          </a:xfrm>
          <a:prstGeom prst="ellipse">
            <a:avLst/>
          </a:prstGeom>
          <a:noFill/>
          <a:ln w="12700">
            <a:solidFill>
              <a:srgbClr val="6D7ED3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046720" y="1783080"/>
            <a:ext cx="3566160" cy="3566160"/>
          </a:xfrm>
          <a:prstGeom prst="ellipse">
            <a:avLst/>
          </a:prstGeom>
          <a:noFill/>
          <a:ln w="12700">
            <a:solidFill>
              <a:srgbClr val="6D7ED3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635240" y="1371600"/>
            <a:ext cx="4389120" cy="4389120"/>
          </a:xfrm>
          <a:prstGeom prst="ellipse">
            <a:avLst/>
          </a:prstGeom>
          <a:noFill/>
          <a:ln w="12700">
            <a:solidFill>
              <a:srgbClr val="6D7ED3">
                <a:alpha val="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sologotip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392" y="2359152"/>
            <a:ext cx="1965960" cy="221800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41080" y="5504688"/>
            <a:ext cx="24231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198"/>
                </a:solidFill>
                <a:latin typeface="Consolas"/>
              </a:rPr>
              <a:t>VIBE·MATCH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840" b="0" i="0">
                <a:solidFill>
                  <a:srgbClr val="7C8198"/>
                </a:solidFill>
                <a:latin typeface="Consolas"/>
              </a:rPr>
              <a:t>Brand Identity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70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658368" y="6382512"/>
            <a:ext cx="10874959" cy="0"/>
          </a:xfrm>
          <a:prstGeom prst="line">
            <a:avLst/>
          </a:prstGeom>
          <a:ln w="6350">
            <a:solidFill>
              <a:srgbClr val="FFFFFF">
                <a:alpha val="9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658368" y="6455664"/>
            <a:ext cx="685800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VibeMatch · Colegio Superior del Maipo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53167" y="6455664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7C8198"/>
                </a:solidFill>
                <a:latin typeface="Consolas"/>
              </a:rPr>
              <a:t>17 /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73152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spc="220">
                <a:solidFill>
                  <a:srgbClr val="9FB3E8"/>
                </a:solidFill>
                <a:latin typeface="Consolas"/>
              </a:rPr>
              <a:t>ANEXO · PREGUNTAS FRECUENTES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713232"/>
            <a:ext cx="9509760" cy="7132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F4F4F8"/>
                </a:solidFill>
                <a:latin typeface="Segoe UI Semibold"/>
              </a:rPr>
              <a:t>Lo que van a preguntar.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444752"/>
            <a:ext cx="950976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A8ADC2"/>
                </a:solidFill>
                <a:latin typeface="Segoe UI"/>
              </a:rPr>
              <a:t>Respuestas cortas para el cierre. El detalle técnico está en la documentación del proyecto.</a:t>
            </a:r>
          </a:p>
        </p:txBody>
      </p:sp>
      <p:pic>
        <p:nvPicPr>
          <p:cNvPr id="8" name="Picture 7" descr="imagotip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457200"/>
            <a:ext cx="960120" cy="4354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938528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14400" y="213969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A7F8"/>
                </a:solidFill>
                <a:latin typeface="Consolas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121408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4F4F8"/>
                </a:solidFill>
                <a:latin typeface="Segoe UI Semibold"/>
              </a:rPr>
              <a:t>¿Y si se pierde la tarjeta?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05456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Se revoca al instante y se emite un reemplazo. La tarjeta no contiene nombre, RUT ni curso: solo un token.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938528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7376" y="2139696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A7F8"/>
                </a:solidFill>
                <a:latin typeface="Consolas"/>
              </a:rPr>
              <a:t>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03136" y="2121408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4F4F8"/>
                </a:solidFill>
                <a:latin typeface="Segoe UI Semibold"/>
              </a:rPr>
              <a:t>¿Reemplaza al profesor?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2505456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No. Automatiza el registro; la decisión pedagógica y disciplinaria sigue siendo del equipo escolar.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3675887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" y="3877055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A7F8"/>
                </a:solidFill>
                <a:latin typeface="Consola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58768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4F4F8"/>
                </a:solidFill>
                <a:latin typeface="Segoe UI Semibold"/>
              </a:rPr>
              <a:t>¿Funciona sin internet?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242816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El Punto Vibe puede operar en la red local del colegio. El modo offline se valida durante el piloto.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81344" y="3675887"/>
            <a:ext cx="5349240" cy="1554480"/>
          </a:xfrm>
          <a:prstGeom prst="roundRect">
            <a:avLst>
              <a:gd name="adj" fmla="val 8000"/>
            </a:avLst>
          </a:prstGeom>
          <a:solidFill>
            <a:srgbClr val="FFFFFF">
              <a:alpha val="3500"/>
            </a:srgbClr>
          </a:solidFill>
          <a:ln w="10160">
            <a:solidFill>
              <a:srgbClr val="FFFFFF">
                <a:alpha val="9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7376" y="3877055"/>
            <a:ext cx="3200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FA7F8"/>
                </a:solidFill>
                <a:latin typeface="Consolas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3858768"/>
            <a:ext cx="443484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F4F4F8"/>
                </a:solidFill>
                <a:latin typeface="Segoe UI Semibold"/>
              </a:rPr>
              <a:t>¿Es obligatorio para el estudiante?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03136" y="4242816"/>
            <a:ext cx="443484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A8ADC2"/>
                </a:solidFill>
                <a:latin typeface="Segoe UI"/>
              </a:rPr>
              <a:t>No. Convive con el registro manual y se activa con consentimiento, reglamento interno y autorización del colegio.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742432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7C8198"/>
                </a:solidFill>
                <a:latin typeface="Consolas"/>
              </a:rPr>
              <a:t>También: ¿cuánto cuesta?, ¿quién administra las tarjetas?, ¿qué datos se comparten con apoderados?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016752"/>
            <a:ext cx="10874959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760" b="0" i="0">
                <a:solidFill>
                  <a:srgbClr val="9FB3E8"/>
                </a:solidFill>
                <a:latin typeface="Consolas"/>
              </a:rPr>
              <a:t>Documentación: docs/producto.md  ·  docs/arquitectura/acceso-y-dispositivos.md  ·  docs/plan-apps.md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VibeMatch · Una tarjeta, todo el colegio conectado</dc:title>
  <dc:subject>Presentación del servicio VibeMatch y su extensión de gestión escolar con NFC</dc:subject>
  <dc:creator>Maximo Orellana</dc:creator>
  <cp:keywords/>
  <dc:description>Generado para el Colegio Superior del Maipo · 2026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